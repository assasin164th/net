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72" r:id="rId12"/>
    <p:sldId id="265" r:id="rId13"/>
    <p:sldId id="271" r:id="rId14"/>
    <p:sldId id="266" r:id="rId15"/>
    <p:sldId id="267" r:id="rId16"/>
    <p:sldId id="268" r:id="rId17"/>
    <p:sldId id="270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3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85ADB-1465-4FCF-8D1B-E067E37D3CE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9B2AF-2D09-4280-84D1-4F6D53786F2B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E328-6AFF-436B-881F-213D5608454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1480828-6983-48AD-9E27-CBD3696F837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E37674-C1BA-4107-9B06-6D4CAC3A3DF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/>
              <a:t>Разработка информационной системы для рыболовной фирмы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студент гр.исп-2</a:t>
            </a:r>
            <a:r>
              <a:rPr lang="en-US" dirty="0"/>
              <a:t>3</a:t>
            </a:r>
            <a:r>
              <a:rPr lang="ru-RU" altLang="en-US" dirty="0"/>
              <a:t> Маклецов н.С.</a:t>
            </a:r>
            <a:endParaRPr lang="ru-RU" altLang="en-US" dirty="0"/>
          </a:p>
          <a:p>
            <a:r>
              <a:rPr lang="ru-RU" dirty="0"/>
              <a:t>Руководитель: Бородина </a:t>
            </a:r>
            <a:r>
              <a:rPr lang="ru-RU" dirty="0" err="1"/>
              <a:t>К.с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677" y="254633"/>
            <a:ext cx="1981771" cy="16821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2" y="1095709"/>
            <a:ext cx="1390712" cy="121687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9" y="133143"/>
            <a:ext cx="1952134" cy="832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Обоснование разработки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273724"/>
            <a:ext cx="10058400" cy="402336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endParaRPr lang="en-US" altLang="ru-RU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Управление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членами</a:t>
            </a:r>
            <a:r>
              <a:rPr lang="en-US" altLang="ru-RU" sz="5600" dirty="0"/>
              <a:t> </a:t>
            </a:r>
            <a:r>
              <a:rPr lang="en-US" altLang="en-US" sz="5600" dirty="0"/>
              <a:t>команды</a:t>
            </a:r>
            <a:r>
              <a:rPr lang="en-US" altLang="ru-RU" sz="5600" dirty="0"/>
              <a:t> (CRUD, </a:t>
            </a:r>
            <a:r>
              <a:rPr lang="en-US" altLang="en-US" sz="5600" dirty="0"/>
              <a:t>назначение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на</a:t>
            </a:r>
            <a:r>
              <a:rPr lang="en-US" altLang="ru-RU" sz="5600" dirty="0"/>
              <a:t> </a:t>
            </a:r>
            <a:r>
              <a:rPr lang="en-US" altLang="en-US" sz="5600" dirty="0"/>
              <a:t>рейсы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Управление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банками</a:t>
            </a:r>
            <a:r>
              <a:rPr lang="en-US" altLang="ru-RU" sz="5600" dirty="0"/>
              <a:t> (</a:t>
            </a:r>
            <a:r>
              <a:rPr lang="en-US" altLang="en-US" sz="5600" dirty="0"/>
              <a:t>местами</a:t>
            </a:r>
            <a:r>
              <a:rPr lang="en-US" altLang="ru-RU" sz="5600" dirty="0"/>
              <a:t> </a:t>
            </a:r>
            <a:r>
              <a:rPr lang="en-US" altLang="en-US" sz="5600" dirty="0"/>
              <a:t>лова</a:t>
            </a:r>
            <a:r>
              <a:rPr lang="en-US" altLang="ru-RU" sz="5600" dirty="0"/>
              <a:t>) – </a:t>
            </a:r>
            <a:r>
              <a:rPr lang="en-US" altLang="en-US" sz="5600" dirty="0"/>
              <a:t>добавление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новой</a:t>
            </a:r>
            <a:r>
              <a:rPr lang="en-US" altLang="ru-RU" sz="5600" dirty="0"/>
              <a:t> </a:t>
            </a:r>
            <a:r>
              <a:rPr lang="en-US" altLang="en-US" sz="5600" dirty="0"/>
              <a:t>банки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Регистрация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выхода</a:t>
            </a:r>
            <a:r>
              <a:rPr lang="en-US" altLang="ru-RU" sz="5600" dirty="0"/>
              <a:t> </a:t>
            </a:r>
            <a:r>
              <a:rPr lang="en-US" altLang="en-US" sz="5600" dirty="0"/>
              <a:t>катера</a:t>
            </a:r>
            <a:r>
              <a:rPr lang="en-US" altLang="ru-RU" sz="5600" dirty="0"/>
              <a:t> </a:t>
            </a:r>
            <a:r>
              <a:rPr lang="en-US" altLang="en-US" sz="5600" dirty="0"/>
              <a:t>в</a:t>
            </a:r>
            <a:r>
              <a:rPr lang="en-US" altLang="ru-RU" sz="5600" dirty="0"/>
              <a:t> </a:t>
            </a:r>
            <a:r>
              <a:rPr lang="en-US" altLang="en-US" sz="5600" dirty="0"/>
              <a:t>море</a:t>
            </a:r>
            <a:r>
              <a:rPr lang="en-US" altLang="ru-RU" sz="5600" dirty="0"/>
              <a:t> </a:t>
            </a:r>
            <a:r>
              <a:rPr lang="en-US" altLang="en-US" sz="5600" dirty="0"/>
              <a:t>с</a:t>
            </a:r>
            <a:r>
              <a:rPr lang="en-US" altLang="ru-RU" sz="5600" dirty="0"/>
              <a:t> </a:t>
            </a:r>
            <a:r>
              <a:rPr lang="en-US" altLang="en-US" sz="5600" dirty="0"/>
              <a:t>указанием</a:t>
            </a:r>
            <a:r>
              <a:rPr lang="en-US" altLang="ru-RU" sz="5600" dirty="0"/>
              <a:t> </a:t>
            </a:r>
            <a:r>
              <a:rPr lang="en-US" altLang="en-US" sz="5600" dirty="0"/>
              <a:t>команды</a:t>
            </a:r>
            <a:r>
              <a:rPr lang="en-US" altLang="ru-RU" sz="5600" dirty="0"/>
              <a:t> (</a:t>
            </a:r>
            <a:r>
              <a:rPr lang="en-US" altLang="en-US" sz="5600" dirty="0"/>
              <a:t>дата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выхода</a:t>
            </a:r>
            <a:r>
              <a:rPr lang="en-US" altLang="ru-RU" sz="5600" dirty="0"/>
              <a:t>/</a:t>
            </a:r>
            <a:r>
              <a:rPr lang="en-US" altLang="en-US" sz="5600" dirty="0"/>
              <a:t>возвращения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Добавление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улова</a:t>
            </a:r>
            <a:r>
              <a:rPr lang="en-US" altLang="ru-RU" sz="5600" dirty="0"/>
              <a:t> (</a:t>
            </a:r>
            <a:r>
              <a:rPr lang="en-US" altLang="en-US" sz="5600" dirty="0"/>
              <a:t>привязка</a:t>
            </a:r>
            <a:r>
              <a:rPr lang="en-US" altLang="ru-RU" sz="5600" dirty="0"/>
              <a:t> </a:t>
            </a:r>
            <a:r>
              <a:rPr lang="en-US" altLang="en-US" sz="5600" dirty="0"/>
              <a:t>к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выходу</a:t>
            </a:r>
            <a:r>
              <a:rPr lang="en-US" altLang="ru-RU" sz="5600" dirty="0"/>
              <a:t> </a:t>
            </a:r>
            <a:r>
              <a:rPr lang="en-US" altLang="en-US" sz="5600" dirty="0"/>
              <a:t>и</a:t>
            </a:r>
            <a:r>
              <a:rPr lang="en-US" altLang="ru-RU" sz="5600" dirty="0"/>
              <a:t> </a:t>
            </a:r>
            <a:r>
              <a:rPr lang="en-US" altLang="en-US" sz="5600" dirty="0"/>
              <a:t>банке</a:t>
            </a:r>
            <a:r>
              <a:rPr lang="en-US" altLang="ru-RU" sz="5600" dirty="0"/>
              <a:t>, </a:t>
            </a:r>
            <a:r>
              <a:rPr lang="en-US" altLang="en-US" sz="5600" dirty="0"/>
              <a:t>сорт</a:t>
            </a:r>
            <a:r>
              <a:rPr lang="en-US" altLang="ru-RU" sz="5600" dirty="0"/>
              <a:t> </a:t>
            </a:r>
            <a:r>
              <a:rPr lang="en-US" altLang="en-US" sz="5600" dirty="0"/>
              <a:t>рыбы</a:t>
            </a:r>
            <a:r>
              <a:rPr lang="en-US" altLang="ru-RU" sz="5600" dirty="0"/>
              <a:t>, </a:t>
            </a:r>
            <a:r>
              <a:rPr lang="en-US" altLang="en-US" sz="5600" dirty="0"/>
              <a:t>вес</a:t>
            </a:r>
            <a:r>
              <a:rPr lang="en-US" altLang="ru-RU" sz="5600" dirty="0"/>
              <a:t>, </a:t>
            </a:r>
            <a:r>
              <a:rPr lang="en-US" altLang="en-US" sz="5600" dirty="0"/>
              <a:t>качество</a:t>
            </a:r>
            <a:r>
              <a:rPr lang="en-US" altLang="ru-RU" sz="5600" dirty="0"/>
              <a:t>, </a:t>
            </a:r>
            <a:r>
              <a:rPr lang="en-US" altLang="en-US" sz="5600" dirty="0"/>
              <a:t>даты</a:t>
            </a:r>
            <a:r>
              <a:rPr lang="en-US" altLang="ru-RU" sz="5600" dirty="0"/>
              <a:t> </a:t>
            </a:r>
            <a:r>
              <a:rPr lang="en-US" altLang="en-US" sz="5600" dirty="0"/>
              <a:t>прихода</a:t>
            </a:r>
            <a:r>
              <a:rPr lang="en-US" altLang="ru-RU" sz="5600" dirty="0"/>
              <a:t> </a:t>
            </a:r>
            <a:r>
              <a:rPr lang="en-US" altLang="en-US" sz="5600" dirty="0"/>
              <a:t>и</a:t>
            </a:r>
            <a:r>
              <a:rPr lang="en-US" altLang="ru-RU" sz="5600" dirty="0"/>
              <a:t> </a:t>
            </a:r>
            <a:r>
              <a:rPr lang="en-US" altLang="en-US" sz="5600" dirty="0"/>
              <a:t>отплытия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Формирование</a:t>
            </a:r>
            <a:r>
              <a:rPr lang="en-US" altLang="ru-RU" sz="5600" dirty="0"/>
              <a:t> </a:t>
            </a:r>
            <a:r>
              <a:rPr lang="en-US" altLang="en-US" sz="5600" dirty="0"/>
              <a:t>аналитических</a:t>
            </a:r>
            <a:r>
              <a:rPr lang="en-US" altLang="ru-RU" sz="5600" dirty="0"/>
              <a:t> </a:t>
            </a:r>
            <a:r>
              <a:rPr lang="en-US" altLang="en-US" sz="5600" dirty="0"/>
              <a:t>отчётов</a:t>
            </a:r>
            <a:r>
              <a:rPr lang="en-US" altLang="ru-RU" sz="5600" dirty="0"/>
              <a:t>:</a:t>
            </a:r>
            <a:endParaRPr lang="en-US" altLang="ru-RU" sz="5600" dirty="0"/>
          </a:p>
          <a:p>
            <a:pPr marL="834390" lvl="1" indent="-285750" fontAlgn="auto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5040" dirty="0"/>
              <a:t>для</a:t>
            </a:r>
            <a:r>
              <a:rPr lang="en-US" altLang="ru-RU" sz="5040" dirty="0"/>
              <a:t> </a:t>
            </a:r>
            <a:r>
              <a:rPr lang="en-US" altLang="en-US" sz="5040" dirty="0"/>
              <a:t>каждого</a:t>
            </a:r>
            <a:r>
              <a:rPr lang="en-US" altLang="ru-RU" sz="5040" dirty="0"/>
              <a:t> </a:t>
            </a:r>
            <a:r>
              <a:rPr lang="en-US" altLang="en-US" sz="5040" dirty="0"/>
              <a:t>катера</a:t>
            </a:r>
            <a:r>
              <a:rPr lang="en-US" altLang="ru-RU" sz="5040" dirty="0"/>
              <a:t> – </a:t>
            </a:r>
            <a:r>
              <a:rPr lang="en-US" altLang="en-US" sz="5040" dirty="0"/>
              <a:t>даты</a:t>
            </a:r>
            <a:r>
              <a:rPr lang="en-US" altLang="ru-RU" sz="5040" dirty="0"/>
              <a:t> </a:t>
            </a:r>
            <a:r>
              <a:rPr lang="en-US" altLang="en-US" sz="5040" dirty="0"/>
              <a:t>выхода</a:t>
            </a:r>
            <a:r>
              <a:rPr lang="en-US" altLang="ru-RU" sz="5040" dirty="0"/>
              <a:t> </a:t>
            </a:r>
            <a:r>
              <a:rPr lang="en-US" altLang="en-US" sz="5040" dirty="0"/>
              <a:t>с</a:t>
            </a:r>
            <a:r>
              <a:rPr lang="en-US" altLang="ru-RU" sz="5040" dirty="0"/>
              <a:t> </a:t>
            </a:r>
            <a:r>
              <a:rPr lang="en-US" altLang="en-US" sz="5040" dirty="0"/>
              <a:t>указанием</a:t>
            </a:r>
            <a:r>
              <a:rPr lang="en-US" altLang="ru-RU" sz="5040" dirty="0"/>
              <a:t> </a:t>
            </a:r>
            <a:r>
              <a:rPr lang="en-US" altLang="en-US" sz="5040" dirty="0"/>
              <a:t>улова</a:t>
            </a:r>
            <a:endParaRPr lang="en-US" altLang="ru-RU" sz="5040" dirty="0"/>
          </a:p>
          <a:p>
            <a:pPr marL="834390" lvl="1" indent="-285750" fontAlgn="auto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5040" dirty="0"/>
              <a:t>для</a:t>
            </a:r>
            <a:r>
              <a:rPr lang="en-US" altLang="ru-RU" sz="5040" dirty="0"/>
              <a:t> </a:t>
            </a:r>
            <a:r>
              <a:rPr lang="en-US" altLang="en-US" sz="5040" dirty="0"/>
              <a:t>указанного</a:t>
            </a:r>
            <a:r>
              <a:rPr lang="en-US" altLang="ru-RU" sz="5040" dirty="0"/>
              <a:t> </a:t>
            </a:r>
            <a:r>
              <a:rPr lang="en-US" altLang="en-US" sz="5040" dirty="0"/>
              <a:t>интервала</a:t>
            </a:r>
            <a:r>
              <a:rPr lang="en-US" altLang="ru-RU" sz="5040" dirty="0"/>
              <a:t> </a:t>
            </a:r>
            <a:r>
              <a:rPr lang="en-US" altLang="en-US" sz="5040" dirty="0"/>
              <a:t>дат</a:t>
            </a:r>
            <a:r>
              <a:rPr lang="en-US" altLang="ru-RU" sz="5040" dirty="0"/>
              <a:t> – </a:t>
            </a:r>
            <a:r>
              <a:rPr lang="en-US" altLang="en-US" sz="5040" dirty="0"/>
              <a:t>для</a:t>
            </a:r>
            <a:r>
              <a:rPr lang="en-US" altLang="ru-RU" sz="5040" dirty="0"/>
              <a:t> </a:t>
            </a:r>
            <a:r>
              <a:rPr lang="en-US" altLang="en-US" sz="5040" dirty="0"/>
              <a:t>каждого</a:t>
            </a:r>
            <a:r>
              <a:rPr lang="en-US" altLang="ru-RU" sz="5040" dirty="0"/>
              <a:t> </a:t>
            </a:r>
            <a:r>
              <a:rPr lang="en-US" altLang="en-US" sz="5040" dirty="0"/>
              <a:t>сорта</a:t>
            </a:r>
            <a:r>
              <a:rPr lang="en-US" altLang="ru-RU" sz="5040" dirty="0"/>
              <a:t> </a:t>
            </a:r>
            <a:r>
              <a:rPr lang="en-US" altLang="en-US" sz="5040" dirty="0"/>
              <a:t>рыбы</a:t>
            </a:r>
            <a:r>
              <a:rPr lang="en-US" altLang="ru-RU" sz="5040" dirty="0"/>
              <a:t> </a:t>
            </a:r>
            <a:r>
              <a:rPr lang="en-US" altLang="en-US" sz="5040" dirty="0"/>
              <a:t>список</a:t>
            </a:r>
            <a:r>
              <a:rPr lang="en-US" altLang="ru-RU" sz="5040" dirty="0"/>
              <a:t> </a:t>
            </a:r>
            <a:r>
              <a:rPr lang="en-US" altLang="en-US" sz="5040" dirty="0"/>
              <a:t>катеров</a:t>
            </a:r>
            <a:r>
              <a:rPr lang="en-US" altLang="ru-RU" sz="5040" dirty="0"/>
              <a:t> </a:t>
            </a:r>
            <a:r>
              <a:rPr lang="en-US" altLang="en-US" sz="5040" dirty="0"/>
              <a:t>с</a:t>
            </a:r>
            <a:r>
              <a:rPr lang="en-US" altLang="ru-RU" sz="5040" dirty="0"/>
              <a:t> </a:t>
            </a:r>
            <a:r>
              <a:rPr lang="en-US" altLang="en-US" sz="5040" dirty="0"/>
              <a:t>наибольшим</a:t>
            </a:r>
            <a:r>
              <a:rPr lang="en-US" altLang="ru-RU" sz="5040" dirty="0"/>
              <a:t> </a:t>
            </a:r>
            <a:r>
              <a:rPr lang="en-US" altLang="en-US" sz="5040" dirty="0"/>
              <a:t>уловом</a:t>
            </a:r>
            <a:endParaRPr lang="en-US" altLang="en-US" sz="5040" dirty="0"/>
          </a:p>
          <a:p>
            <a:pPr marL="834390" lvl="1" indent="-285750" fontAlgn="auto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5040" dirty="0"/>
              <a:t>для</a:t>
            </a:r>
            <a:r>
              <a:rPr lang="en-US" altLang="ru-RU" sz="5040" dirty="0"/>
              <a:t> </a:t>
            </a:r>
            <a:r>
              <a:rPr lang="en-US" altLang="en-US" sz="5040" dirty="0"/>
              <a:t>указанного</a:t>
            </a:r>
            <a:r>
              <a:rPr lang="en-US" altLang="ru-RU" sz="5040" dirty="0"/>
              <a:t> </a:t>
            </a:r>
            <a:r>
              <a:rPr lang="en-US" altLang="en-US" sz="5040" dirty="0"/>
              <a:t>интервала</a:t>
            </a:r>
            <a:r>
              <a:rPr lang="en-US" altLang="ru-RU" sz="5040" dirty="0"/>
              <a:t> </a:t>
            </a:r>
            <a:r>
              <a:rPr lang="en-US" altLang="en-US" sz="5040" dirty="0"/>
              <a:t>дат</a:t>
            </a:r>
            <a:r>
              <a:rPr lang="en-US" altLang="ru-RU" sz="5040" dirty="0"/>
              <a:t> – </a:t>
            </a:r>
            <a:r>
              <a:rPr lang="en-US" altLang="en-US" sz="5040" dirty="0"/>
              <a:t>список</a:t>
            </a:r>
            <a:r>
              <a:rPr lang="en-US" altLang="ru-RU" sz="5040" dirty="0"/>
              <a:t> </a:t>
            </a:r>
            <a:r>
              <a:rPr lang="en-US" altLang="en-US" sz="5040" dirty="0"/>
              <a:t>банок</a:t>
            </a:r>
            <a:r>
              <a:rPr lang="en-US" altLang="ru-RU" sz="5040" dirty="0"/>
              <a:t> </a:t>
            </a:r>
            <a:r>
              <a:rPr lang="en-US" altLang="en-US" sz="5040" dirty="0"/>
              <a:t>со</a:t>
            </a:r>
            <a:r>
              <a:rPr lang="en-US" altLang="ru-RU" sz="5040" dirty="0"/>
              <a:t> </a:t>
            </a:r>
            <a:r>
              <a:rPr lang="en-US" altLang="en-US" sz="5040" dirty="0"/>
              <a:t>средним</a:t>
            </a:r>
            <a:r>
              <a:rPr lang="en-US" altLang="ru-RU" sz="5040" dirty="0"/>
              <a:t> </a:t>
            </a:r>
            <a:r>
              <a:rPr lang="en-US" altLang="en-US" sz="5040" dirty="0"/>
              <a:t>уловом</a:t>
            </a:r>
            <a:endParaRPr lang="en-US" altLang="ru-RU" sz="5040" dirty="0"/>
          </a:p>
          <a:p>
            <a:pPr marL="434340" indent="-342900" fontAlgn="auto">
              <a:lnSpc>
                <a:spcPct val="100000"/>
              </a:lnSpc>
              <a:buFont typeface="+mj-lt"/>
              <a:buAutoNum type="arabicPeriod" startAt="6"/>
            </a:pPr>
            <a:r>
              <a:rPr lang="en-US" altLang="en-US" sz="5600" dirty="0"/>
              <a:t>Разграничение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прав</a:t>
            </a:r>
            <a:r>
              <a:rPr lang="en-US" altLang="ru-RU" sz="5600" dirty="0"/>
              <a:t> </a:t>
            </a:r>
            <a:r>
              <a:rPr lang="en-US" altLang="en-US" sz="5600" dirty="0"/>
              <a:t>доступа</a:t>
            </a:r>
            <a:r>
              <a:rPr lang="en-US" altLang="ru-RU" sz="5600" dirty="0"/>
              <a:t> (</a:t>
            </a:r>
            <a:r>
              <a:rPr lang="en-US" altLang="en-US" sz="5600" dirty="0"/>
              <a:t>диспетчер</a:t>
            </a:r>
            <a:r>
              <a:rPr lang="en-US" altLang="ru-RU" sz="5600" dirty="0"/>
              <a:t>, </a:t>
            </a:r>
            <a:r>
              <a:rPr lang="en-US" altLang="en-US" sz="5600" dirty="0"/>
              <a:t>капитан</a:t>
            </a:r>
            <a:r>
              <a:rPr lang="en-US" altLang="ru-RU" sz="5600" dirty="0"/>
              <a:t>, </a:t>
            </a:r>
            <a:r>
              <a:rPr lang="en-US" altLang="en-US" sz="5600" dirty="0"/>
              <a:t>администратор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434340" indent="-342900" fontAlgn="auto">
              <a:lnSpc>
                <a:spcPct val="100000"/>
              </a:lnSpc>
              <a:buFont typeface="+mj-lt"/>
              <a:buAutoNum type="arabicPeriod" startAt="6"/>
            </a:pPr>
            <a:r>
              <a:rPr lang="en-US" altLang="en-US" sz="5600" dirty="0"/>
              <a:t>Авторизация</a:t>
            </a:r>
            <a:r>
              <a:rPr lang="en-US" altLang="ru-RU" sz="5600" dirty="0"/>
              <a:t> </a:t>
            </a:r>
            <a:r>
              <a:rPr lang="en-US" altLang="en-US" sz="5600" dirty="0"/>
              <a:t>пользователей</a:t>
            </a:r>
            <a:r>
              <a:rPr lang="en-US" altLang="ru-RU" sz="5600" dirty="0"/>
              <a:t> (</a:t>
            </a:r>
            <a:r>
              <a:rPr lang="en-US" altLang="en-US" sz="5600" dirty="0"/>
              <a:t>логин</a:t>
            </a:r>
            <a:r>
              <a:rPr lang="en-US" altLang="ru-RU" sz="5600" dirty="0"/>
              <a:t>/</a:t>
            </a:r>
            <a:r>
              <a:rPr lang="en-US" altLang="en-US" sz="5600" dirty="0"/>
              <a:t>пароль</a:t>
            </a:r>
            <a:r>
              <a:rPr lang="en-US" altLang="ru-RU" sz="5600" dirty="0"/>
              <a:t>, </a:t>
            </a:r>
            <a:r>
              <a:rPr lang="en-US" altLang="en-US" sz="5600" dirty="0"/>
              <a:t>гостевой</a:t>
            </a:r>
            <a:r>
              <a:rPr lang="en-US" altLang="ru-RU" sz="5600" dirty="0"/>
              <a:t> </a:t>
            </a:r>
            <a:r>
              <a:rPr lang="en-US" altLang="en-US" sz="5600" dirty="0"/>
              <a:t>вход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066800" y="1850390"/>
            <a:ext cx="6454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1400" dirty="0">
                <a:sym typeface="+mn-ea"/>
              </a:rPr>
              <a:t>Цель работы: разработать автоматизированную информационную систему для рыболовной фирмы при помощи </a:t>
            </a:r>
            <a:r>
              <a:rPr lang="en-US" sz="1400" dirty="0">
                <a:sym typeface="+mn-ea"/>
              </a:rPr>
              <a:t>SQL Management Studio </a:t>
            </a:r>
            <a:r>
              <a:rPr lang="ru-RU" sz="1400" dirty="0">
                <a:sym typeface="+mn-ea"/>
              </a:rPr>
              <a:t>и </a:t>
            </a:r>
            <a:r>
              <a:rPr lang="en-US" sz="1400" dirty="0">
                <a:sym typeface="+mn-ea"/>
              </a:rPr>
              <a:t>C# WPF</a:t>
            </a:r>
            <a:r>
              <a:rPr lang="ru-RU" sz="1400" dirty="0">
                <a:sym typeface="+mn-ea"/>
              </a:rPr>
              <a:t>.</a:t>
            </a:r>
            <a:endParaRPr lang="ru-RU" sz="1400" dirty="0"/>
          </a:p>
          <a:p>
            <a:endParaRPr lang="ru-RU" altLang="en-US" sz="1400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915" y="1535430"/>
            <a:ext cx="3237230" cy="2110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Предметная область</a:t>
            </a:r>
            <a:endParaRPr lang="ru-RU" dirty="0"/>
          </a:p>
        </p:txBody>
      </p:sp>
      <p:sp useBgFill="1">
        <p:nvSpPr>
          <p:cNvPr id="3" name="Прямоугольник 2"/>
          <p:cNvSpPr/>
          <p:nvPr/>
        </p:nvSpPr>
        <p:spPr>
          <a:xfrm>
            <a:off x="151765" y="1854200"/>
            <a:ext cx="4845050" cy="43084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 useBgFill="1">
        <p:nvSpPr>
          <p:cNvPr id="4" name="Прямоугольник 3"/>
          <p:cNvSpPr/>
          <p:nvPr/>
        </p:nvSpPr>
        <p:spPr>
          <a:xfrm>
            <a:off x="4996815" y="1854200"/>
            <a:ext cx="4845050" cy="43084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268605" y="1845945"/>
            <a:ext cx="4519295" cy="4241800"/>
          </a:xfrm>
        </p:spPr>
        <p:txBody>
          <a:bodyPr>
            <a:noAutofit/>
          </a:bodyPr>
          <a:p>
            <a:r>
              <a:rPr lang="en-US" altLang="en-US" sz="1400">
                <a:solidFill>
                  <a:schemeClr val="tx1"/>
                </a:solidFill>
              </a:rPr>
              <a:t>Объект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автоматизации</a:t>
            </a:r>
            <a:r>
              <a:rPr lang="en-US" altLang="ru-RU" sz="1400">
                <a:solidFill>
                  <a:schemeClr val="tx1"/>
                </a:solidFill>
              </a:rPr>
              <a:t> – </a:t>
            </a:r>
            <a:r>
              <a:rPr lang="en-US" altLang="en-US" sz="1400">
                <a:solidFill>
                  <a:schemeClr val="tx1"/>
                </a:solidFill>
              </a:rPr>
              <a:t>деятельность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рыболовной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фирмы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включающая</a:t>
            </a:r>
            <a:r>
              <a:rPr lang="en-US" altLang="ru-RU" sz="1400">
                <a:solidFill>
                  <a:schemeClr val="tx1"/>
                </a:solidFill>
              </a:rPr>
              <a:t>:</a:t>
            </a:r>
            <a:endParaRPr lang="en-US" altLang="ru-RU" sz="14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chemeClr val="tx1"/>
                </a:solidFill>
              </a:rPr>
              <a:t>Катера</a:t>
            </a:r>
            <a:r>
              <a:rPr lang="en-US" altLang="ru-RU" sz="1400">
                <a:solidFill>
                  <a:schemeClr val="tx1"/>
                </a:solidFill>
              </a:rPr>
              <a:t> – </a:t>
            </a:r>
            <a:r>
              <a:rPr lang="en-US" altLang="en-US" sz="1400">
                <a:solidFill>
                  <a:schemeClr val="tx1"/>
                </a:solidFill>
              </a:rPr>
              <a:t>плавсредства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для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промысла</a:t>
            </a:r>
            <a:r>
              <a:rPr lang="en-US" altLang="ru-RU" sz="1400">
                <a:solidFill>
                  <a:schemeClr val="tx1"/>
                </a:solidFill>
              </a:rPr>
              <a:t>. </a:t>
            </a:r>
            <a:r>
              <a:rPr lang="en-US" altLang="en-US" sz="1400">
                <a:solidFill>
                  <a:schemeClr val="tx1"/>
                </a:solidFill>
              </a:rPr>
              <a:t>Учитываются</a:t>
            </a:r>
            <a:r>
              <a:rPr lang="en-US" altLang="ru-RU" sz="1400">
                <a:solidFill>
                  <a:schemeClr val="tx1"/>
                </a:solidFill>
              </a:rPr>
              <a:t>: </a:t>
            </a:r>
            <a:r>
              <a:rPr lang="en-US" altLang="en-US" sz="1400">
                <a:solidFill>
                  <a:schemeClr val="tx1"/>
                </a:solidFill>
              </a:rPr>
              <a:t>название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тип</a:t>
            </a:r>
            <a:r>
              <a:rPr lang="en-US" altLang="ru-RU" sz="1400">
                <a:solidFill>
                  <a:schemeClr val="tx1"/>
                </a:solidFill>
              </a:rPr>
              <a:t> (</a:t>
            </a:r>
            <a:r>
              <a:rPr lang="en-US" altLang="en-US" sz="1400">
                <a:solidFill>
                  <a:schemeClr val="tx1"/>
                </a:solidFill>
              </a:rPr>
              <a:t>траулер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сейнер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лонглайнер</a:t>
            </a:r>
            <a:r>
              <a:rPr lang="en-US" altLang="ru-RU" sz="1400">
                <a:solidFill>
                  <a:schemeClr val="tx1"/>
                </a:solidFill>
              </a:rPr>
              <a:t>), </a:t>
            </a:r>
            <a:r>
              <a:rPr lang="en-US" altLang="en-US" sz="1400">
                <a:solidFill>
                  <a:schemeClr val="tx1"/>
                </a:solidFill>
              </a:rPr>
              <a:t>водоизмещение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дата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постройки</a:t>
            </a:r>
            <a:r>
              <a:rPr lang="en-US" altLang="ru-RU" sz="1400">
                <a:solidFill>
                  <a:schemeClr val="tx1"/>
                </a:solidFill>
              </a:rPr>
              <a:t>.</a:t>
            </a:r>
            <a:endParaRPr lang="en-US" altLang="ru-RU" sz="14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chemeClr val="tx1"/>
                </a:solidFill>
              </a:rPr>
              <a:t>Команда</a:t>
            </a:r>
            <a:r>
              <a:rPr lang="en-US" altLang="ru-RU" sz="1400">
                <a:solidFill>
                  <a:schemeClr val="tx1"/>
                </a:solidFill>
              </a:rPr>
              <a:t> – </a:t>
            </a:r>
            <a:r>
              <a:rPr lang="en-US" altLang="en-US" sz="1400">
                <a:solidFill>
                  <a:schemeClr val="tx1"/>
                </a:solidFill>
              </a:rPr>
              <a:t>экипаж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каждого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катера</a:t>
            </a:r>
            <a:r>
              <a:rPr lang="en-US" altLang="ru-RU" sz="1400">
                <a:solidFill>
                  <a:schemeClr val="tx1"/>
                </a:solidFill>
              </a:rPr>
              <a:t>. </a:t>
            </a:r>
            <a:r>
              <a:rPr lang="en-US" altLang="en-US" sz="1400">
                <a:solidFill>
                  <a:schemeClr val="tx1"/>
                </a:solidFill>
              </a:rPr>
              <a:t>Учитываются</a:t>
            </a:r>
            <a:r>
              <a:rPr lang="en-US" altLang="ru-RU" sz="1400">
                <a:solidFill>
                  <a:schemeClr val="tx1"/>
                </a:solidFill>
              </a:rPr>
              <a:t>: </a:t>
            </a:r>
            <a:r>
              <a:rPr lang="en-US" altLang="en-US" sz="1400">
                <a:solidFill>
                  <a:schemeClr val="tx1"/>
                </a:solidFill>
              </a:rPr>
              <a:t>фамилия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имя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адрес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должность</a:t>
            </a:r>
            <a:r>
              <a:rPr lang="en-US" altLang="ru-RU" sz="1400">
                <a:solidFill>
                  <a:schemeClr val="tx1"/>
                </a:solidFill>
              </a:rPr>
              <a:t> (</a:t>
            </a:r>
            <a:r>
              <a:rPr lang="en-US" altLang="en-US" sz="1400">
                <a:solidFill>
                  <a:schemeClr val="tx1"/>
                </a:solidFill>
              </a:rPr>
              <a:t>капитан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боцман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матрос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и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др</a:t>
            </a:r>
            <a:r>
              <a:rPr lang="en-US" altLang="ru-RU" sz="1400">
                <a:solidFill>
                  <a:schemeClr val="tx1"/>
                </a:solidFill>
              </a:rPr>
              <a:t>.).</a:t>
            </a:r>
            <a:endParaRPr lang="en-US" altLang="ru-RU" sz="14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chemeClr val="tx1"/>
                </a:solidFill>
              </a:rPr>
              <a:t>Банки</a:t>
            </a:r>
            <a:r>
              <a:rPr lang="en-US" altLang="ru-RU" sz="1400">
                <a:solidFill>
                  <a:schemeClr val="tx1"/>
                </a:solidFill>
              </a:rPr>
              <a:t> (</a:t>
            </a:r>
            <a:r>
              <a:rPr lang="en-US" altLang="en-US" sz="1400">
                <a:solidFill>
                  <a:schemeClr val="tx1"/>
                </a:solidFill>
              </a:rPr>
              <a:t>м</a:t>
            </a:r>
            <a:r>
              <a:rPr lang="ru-RU" altLang="en-US" sz="1400">
                <a:solidFill>
                  <a:schemeClr val="tx1"/>
                </a:solidFill>
              </a:rPr>
              <a:t>е</a:t>
            </a:r>
            <a:r>
              <a:rPr lang="en-US" altLang="en-US" sz="1400">
                <a:solidFill>
                  <a:schemeClr val="tx1"/>
                </a:solidFill>
              </a:rPr>
              <a:t>ста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лова</a:t>
            </a:r>
            <a:r>
              <a:rPr lang="en-US" altLang="ru-RU" sz="1400">
                <a:solidFill>
                  <a:schemeClr val="tx1"/>
                </a:solidFill>
              </a:rPr>
              <a:t>) – </a:t>
            </a:r>
            <a:r>
              <a:rPr lang="en-US" altLang="en-US" sz="1400">
                <a:solidFill>
                  <a:schemeClr val="tx1"/>
                </a:solidFill>
              </a:rPr>
              <a:t>географические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точки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промысла</a:t>
            </a:r>
            <a:r>
              <a:rPr lang="en-US" altLang="ru-RU" sz="1400">
                <a:solidFill>
                  <a:schemeClr val="tx1"/>
                </a:solidFill>
              </a:rPr>
              <a:t>. </a:t>
            </a:r>
            <a:r>
              <a:rPr lang="en-US" altLang="en-US" sz="1400">
                <a:solidFill>
                  <a:schemeClr val="tx1"/>
                </a:solidFill>
              </a:rPr>
              <a:t>Учитываются</a:t>
            </a:r>
            <a:r>
              <a:rPr lang="en-US" altLang="ru-RU" sz="1400">
                <a:solidFill>
                  <a:schemeClr val="tx1"/>
                </a:solidFill>
              </a:rPr>
              <a:t>: </a:t>
            </a:r>
            <a:r>
              <a:rPr lang="en-US" altLang="en-US" sz="1400">
                <a:solidFill>
                  <a:schemeClr val="tx1"/>
                </a:solidFill>
              </a:rPr>
              <a:t>название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координаты</a:t>
            </a:r>
            <a:r>
              <a:rPr lang="en-US" altLang="ru-RU" sz="1400">
                <a:solidFill>
                  <a:schemeClr val="tx1"/>
                </a:solidFill>
              </a:rPr>
              <a:t>.</a:t>
            </a:r>
            <a:endParaRPr lang="en-US" altLang="ru-RU" sz="14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chemeClr val="tx1"/>
                </a:solidFill>
              </a:rPr>
              <a:t>Выходы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на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промысел</a:t>
            </a:r>
            <a:r>
              <a:rPr lang="en-US" altLang="ru-RU" sz="1400">
                <a:solidFill>
                  <a:schemeClr val="tx1"/>
                </a:solidFill>
              </a:rPr>
              <a:t> – </a:t>
            </a:r>
            <a:r>
              <a:rPr lang="en-US" altLang="en-US" sz="1400">
                <a:solidFill>
                  <a:schemeClr val="tx1"/>
                </a:solidFill>
              </a:rPr>
              <a:t>каждый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рейс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катера</a:t>
            </a:r>
            <a:r>
              <a:rPr lang="en-US" altLang="ru-RU" sz="1400">
                <a:solidFill>
                  <a:schemeClr val="tx1"/>
                </a:solidFill>
              </a:rPr>
              <a:t>. </a:t>
            </a:r>
            <a:r>
              <a:rPr lang="en-US" altLang="en-US" sz="1400">
                <a:solidFill>
                  <a:schemeClr val="tx1"/>
                </a:solidFill>
              </a:rPr>
              <a:t>Учитываются</a:t>
            </a:r>
            <a:r>
              <a:rPr lang="en-US" altLang="ru-RU" sz="1400">
                <a:solidFill>
                  <a:schemeClr val="tx1"/>
                </a:solidFill>
              </a:rPr>
              <a:t>: </a:t>
            </a:r>
            <a:r>
              <a:rPr lang="en-US" altLang="en-US" sz="1400">
                <a:solidFill>
                  <a:schemeClr val="tx1"/>
                </a:solidFill>
              </a:rPr>
              <a:t>дата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выхода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дата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возвращения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состав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команды</a:t>
            </a:r>
            <a:r>
              <a:rPr lang="en-US" altLang="ru-RU" sz="1400">
                <a:solidFill>
                  <a:schemeClr val="tx1"/>
                </a:solidFill>
              </a:rPr>
              <a:t>.</a:t>
            </a:r>
            <a:endParaRPr lang="en-US" altLang="ru-RU" sz="14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chemeClr val="tx1"/>
                </a:solidFill>
              </a:rPr>
              <a:t>Улов</a:t>
            </a:r>
            <a:r>
              <a:rPr lang="en-US" altLang="ru-RU" sz="1400">
                <a:solidFill>
                  <a:schemeClr val="tx1"/>
                </a:solidFill>
              </a:rPr>
              <a:t> – </a:t>
            </a:r>
            <a:r>
              <a:rPr lang="en-US" altLang="en-US" sz="1400">
                <a:solidFill>
                  <a:schemeClr val="tx1"/>
                </a:solidFill>
              </a:rPr>
              <a:t>результат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промысла</a:t>
            </a:r>
            <a:r>
              <a:rPr lang="en-US" altLang="ru-RU" sz="1400">
                <a:solidFill>
                  <a:schemeClr val="tx1"/>
                </a:solidFill>
              </a:rPr>
              <a:t>. </a:t>
            </a:r>
            <a:r>
              <a:rPr lang="en-US" altLang="en-US" sz="1400">
                <a:solidFill>
                  <a:schemeClr val="tx1"/>
                </a:solidFill>
              </a:rPr>
              <a:t>Учитываются</a:t>
            </a:r>
            <a:r>
              <a:rPr lang="en-US" altLang="ru-RU" sz="1400">
                <a:solidFill>
                  <a:schemeClr val="tx1"/>
                </a:solidFill>
              </a:rPr>
              <a:t>: </a:t>
            </a:r>
            <a:r>
              <a:rPr lang="en-US" altLang="en-US" sz="1400">
                <a:solidFill>
                  <a:schemeClr val="tx1"/>
                </a:solidFill>
              </a:rPr>
              <a:t>привязка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к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выходу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и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банке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сорт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рыбы</a:t>
            </a:r>
            <a:r>
              <a:rPr lang="en-US" altLang="ru-RU" sz="1400">
                <a:solidFill>
                  <a:schemeClr val="tx1"/>
                </a:solidFill>
              </a:rPr>
              <a:t> (</a:t>
            </a:r>
            <a:r>
              <a:rPr lang="en-US" altLang="en-US" sz="1400">
                <a:solidFill>
                  <a:schemeClr val="tx1"/>
                </a:solidFill>
              </a:rPr>
              <a:t>треска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пикша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минтай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и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др</a:t>
            </a:r>
            <a:r>
              <a:rPr lang="en-US" altLang="ru-RU" sz="1400">
                <a:solidFill>
                  <a:schemeClr val="tx1"/>
                </a:solidFill>
              </a:rPr>
              <a:t>.), </a:t>
            </a:r>
            <a:r>
              <a:rPr lang="en-US" altLang="en-US" sz="1400">
                <a:solidFill>
                  <a:schemeClr val="tx1"/>
                </a:solidFill>
              </a:rPr>
              <a:t>вес</a:t>
            </a:r>
            <a:r>
              <a:rPr lang="en-US" altLang="ru-RU" sz="1400">
                <a:solidFill>
                  <a:schemeClr val="tx1"/>
                </a:solidFill>
              </a:rPr>
              <a:t> (</a:t>
            </a:r>
            <a:r>
              <a:rPr lang="en-US" altLang="en-US" sz="1400">
                <a:solidFill>
                  <a:schemeClr val="tx1"/>
                </a:solidFill>
              </a:rPr>
              <a:t>кг</a:t>
            </a:r>
            <a:r>
              <a:rPr lang="en-US" altLang="ru-RU" sz="1400">
                <a:solidFill>
                  <a:schemeClr val="tx1"/>
                </a:solidFill>
              </a:rPr>
              <a:t>), </a:t>
            </a:r>
            <a:r>
              <a:rPr lang="en-US" altLang="en-US" sz="1400">
                <a:solidFill>
                  <a:schemeClr val="tx1"/>
                </a:solidFill>
              </a:rPr>
              <a:t>качество</a:t>
            </a:r>
            <a:r>
              <a:rPr lang="en-US" altLang="ru-RU" sz="1400">
                <a:solidFill>
                  <a:schemeClr val="tx1"/>
                </a:solidFill>
              </a:rPr>
              <a:t> (</a:t>
            </a:r>
            <a:r>
              <a:rPr lang="en-US" altLang="en-US" sz="1400">
                <a:solidFill>
                  <a:schemeClr val="tx1"/>
                </a:solidFill>
              </a:rPr>
              <a:t>отличное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хорошее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плохое</a:t>
            </a:r>
            <a:r>
              <a:rPr lang="en-US" altLang="ru-RU" sz="1400">
                <a:solidFill>
                  <a:schemeClr val="tx1"/>
                </a:solidFill>
              </a:rPr>
              <a:t>), </a:t>
            </a:r>
            <a:r>
              <a:rPr lang="en-US" altLang="en-US" sz="1400">
                <a:solidFill>
                  <a:schemeClr val="tx1"/>
                </a:solidFill>
              </a:rPr>
              <a:t>дата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прихода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на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банку</a:t>
            </a:r>
            <a:r>
              <a:rPr lang="en-US" altLang="ru-RU" sz="1400">
                <a:solidFill>
                  <a:schemeClr val="tx1"/>
                </a:solidFill>
              </a:rPr>
              <a:t>, </a:t>
            </a:r>
            <a:r>
              <a:rPr lang="en-US" altLang="en-US" sz="1400">
                <a:solidFill>
                  <a:schemeClr val="tx1"/>
                </a:solidFill>
              </a:rPr>
              <a:t>дата</a:t>
            </a:r>
            <a:r>
              <a:rPr lang="en-US" altLang="ru-RU" sz="1400">
                <a:solidFill>
                  <a:schemeClr val="tx1"/>
                </a:solidFill>
              </a:rPr>
              <a:t> </a:t>
            </a:r>
            <a:r>
              <a:rPr lang="en-US" altLang="en-US" sz="1400">
                <a:solidFill>
                  <a:schemeClr val="tx1"/>
                </a:solidFill>
              </a:rPr>
              <a:t>отплытия</a:t>
            </a:r>
            <a:r>
              <a:rPr lang="en-US" altLang="ru-RU" sz="1400">
                <a:solidFill>
                  <a:schemeClr val="tx1"/>
                </a:solidFill>
              </a:rPr>
              <a:t>.</a:t>
            </a:r>
            <a:endParaRPr lang="en-US" altLang="ru-RU" sz="1400">
              <a:solidFill>
                <a:schemeClr val="tx1"/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036820" y="1845945"/>
            <a:ext cx="4470400" cy="424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/>
              <a:t>Основные</a:t>
            </a:r>
            <a:r>
              <a:rPr lang="en-US" altLang="ru-RU" sz="1400"/>
              <a:t> </a:t>
            </a:r>
            <a:r>
              <a:rPr lang="en-US" altLang="en-US" sz="1400"/>
              <a:t>процессы</a:t>
            </a:r>
            <a:r>
              <a:rPr lang="en-US" altLang="ru-RU" sz="1400"/>
              <a:t>:</a:t>
            </a:r>
            <a:endParaRPr lang="en-US" altLang="ru-RU" sz="1400"/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+mj-lt"/>
              <a:buAutoNum type="arabicPeriod"/>
            </a:pP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Регистрация выхода катера с назначением команды</a:t>
            </a:r>
            <a:r>
              <a:rPr lang="ru-RU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+mj-lt"/>
              <a:buAutoNum type="arabicPeriod"/>
            </a:pP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Фиксация улова по сортам и банкам (один рейс – несколько банок)</a:t>
            </a:r>
            <a:r>
              <a:rPr lang="ru-RU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+mj-lt"/>
              <a:buAutoNum type="arabicPeriod"/>
            </a:pP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Формирование аналитических отчётов:</a:t>
            </a: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улов по каждому катеру с датами вы;</a:t>
            </a: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для заданного периода – катера с наибольшим уловом по каждому сорту рыбы;</a:t>
            </a: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для заданного периода – средний улов по банкам</a:t>
            </a:r>
            <a:r>
              <a:rPr lang="ru-RU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en-US"/>
              <a:t>ER-</a:t>
            </a:r>
            <a:r>
              <a:rPr lang="ru-RU"/>
              <a:t>диаграмма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7275" y="1845945"/>
            <a:ext cx="7597775" cy="40233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Создание 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приложения были созданы следующие таблицы: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081405" y="2153920"/>
            <a:ext cx="7642860" cy="470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/>
            <a:r>
              <a:rPr lang="en-US" altLang="ru-RU" sz="1200"/>
              <a:t>Roles – </a:t>
            </a:r>
            <a:r>
              <a:rPr lang="en-US" altLang="en-US" sz="1200"/>
              <a:t>роли</a:t>
            </a:r>
            <a:r>
              <a:rPr lang="en-US" altLang="ru-RU" sz="1200"/>
              <a:t> </a:t>
            </a:r>
            <a:r>
              <a:rPr lang="en-US" altLang="en-US" sz="1200"/>
              <a:t>пользователей</a:t>
            </a:r>
            <a:r>
              <a:rPr lang="en-US" altLang="ru-RU" sz="1200"/>
              <a:t> (Admin, Manager, Cashier, Director, Storekeeper)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Users – </a:t>
            </a:r>
            <a:r>
              <a:rPr lang="en-US" altLang="en-US" sz="1200"/>
              <a:t>учётные</a:t>
            </a:r>
            <a:r>
              <a:rPr lang="en-US" altLang="ru-RU" sz="1200"/>
              <a:t> </a:t>
            </a:r>
            <a:r>
              <a:rPr lang="en-US" altLang="en-US" sz="1200"/>
              <a:t>записи</a:t>
            </a:r>
            <a:r>
              <a:rPr lang="en-US" altLang="ru-RU" sz="1200"/>
              <a:t> </a:t>
            </a:r>
            <a:r>
              <a:rPr lang="en-US" altLang="en-US" sz="1200"/>
              <a:t>сотрудников</a:t>
            </a:r>
            <a:r>
              <a:rPr lang="en-US" altLang="ru-RU" sz="1200"/>
              <a:t> (</a:t>
            </a:r>
            <a:r>
              <a:rPr lang="en-US" altLang="en-US" sz="1200"/>
              <a:t>логин</a:t>
            </a:r>
            <a:r>
              <a:rPr lang="en-US" altLang="ru-RU" sz="1200"/>
              <a:t>, </a:t>
            </a:r>
            <a:r>
              <a:rPr lang="en-US" altLang="en-US" sz="1200"/>
              <a:t>пароль</a:t>
            </a:r>
            <a:r>
              <a:rPr lang="en-US" altLang="ru-RU" sz="1200"/>
              <a:t>, </a:t>
            </a:r>
            <a:r>
              <a:rPr lang="en-US" altLang="en-US" sz="1200"/>
              <a:t>ФИО</a:t>
            </a:r>
            <a:r>
              <a:rPr lang="en-US" altLang="ru-RU" sz="1200"/>
              <a:t>, </a:t>
            </a:r>
            <a:r>
              <a:rPr lang="en-US" altLang="en-US" sz="1200"/>
              <a:t>роль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Boats – </a:t>
            </a:r>
            <a:r>
              <a:rPr lang="en-US" altLang="en-US" sz="1200"/>
              <a:t>катера</a:t>
            </a:r>
            <a:r>
              <a:rPr lang="en-US" altLang="ru-RU" sz="1200"/>
              <a:t> (</a:t>
            </a:r>
            <a:r>
              <a:rPr lang="en-US" altLang="en-US" sz="1200"/>
              <a:t>название</a:t>
            </a:r>
            <a:r>
              <a:rPr lang="en-US" altLang="ru-RU" sz="1200"/>
              <a:t>, </a:t>
            </a:r>
            <a:r>
              <a:rPr lang="en-US" altLang="en-US" sz="1200"/>
              <a:t>тип</a:t>
            </a:r>
            <a:r>
              <a:rPr lang="en-US" altLang="ru-RU" sz="1200"/>
              <a:t>, </a:t>
            </a:r>
            <a:r>
              <a:rPr lang="en-US" altLang="en-US" sz="1200"/>
              <a:t>водоизмещение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 </a:t>
            </a:r>
            <a:r>
              <a:rPr lang="en-US" altLang="en-US" sz="1200"/>
              <a:t>постройки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CrewMembers – </a:t>
            </a:r>
            <a:r>
              <a:rPr lang="en-US" altLang="en-US" sz="1200"/>
              <a:t>члены</a:t>
            </a:r>
            <a:r>
              <a:rPr lang="en-US" altLang="ru-RU" sz="1200"/>
              <a:t> </a:t>
            </a:r>
            <a:r>
              <a:rPr lang="en-US" altLang="en-US" sz="1200"/>
              <a:t>команды</a:t>
            </a:r>
            <a:r>
              <a:rPr lang="en-US" altLang="ru-RU" sz="1200"/>
              <a:t> (</a:t>
            </a:r>
            <a:r>
              <a:rPr lang="en-US" altLang="en-US" sz="1200"/>
              <a:t>фамилия</a:t>
            </a:r>
            <a:r>
              <a:rPr lang="en-US" altLang="ru-RU" sz="1200"/>
              <a:t>, </a:t>
            </a:r>
            <a:r>
              <a:rPr lang="en-US" altLang="en-US" sz="1200"/>
              <a:t>имя</a:t>
            </a:r>
            <a:r>
              <a:rPr lang="en-US" altLang="ru-RU" sz="1200"/>
              <a:t>, </a:t>
            </a:r>
            <a:r>
              <a:rPr lang="en-US" altLang="en-US" sz="1200"/>
              <a:t>адрес</a:t>
            </a:r>
            <a:r>
              <a:rPr lang="en-US" altLang="ru-RU" sz="1200"/>
              <a:t>, </a:t>
            </a:r>
            <a:r>
              <a:rPr lang="en-US" altLang="en-US" sz="1200"/>
              <a:t>должность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FishingSpots – </a:t>
            </a:r>
            <a:r>
              <a:rPr lang="en-US" altLang="en-US" sz="1200"/>
              <a:t>банки</a:t>
            </a:r>
            <a:r>
              <a:rPr lang="en-US" altLang="ru-RU" sz="1200"/>
              <a:t> / </a:t>
            </a:r>
            <a:r>
              <a:rPr lang="en-US" altLang="en-US" sz="1200"/>
              <a:t>места</a:t>
            </a:r>
            <a:r>
              <a:rPr lang="en-US" altLang="ru-RU" sz="1200"/>
              <a:t> </a:t>
            </a:r>
            <a:r>
              <a:rPr lang="en-US" altLang="en-US" sz="1200"/>
              <a:t>лова</a:t>
            </a:r>
            <a:r>
              <a:rPr lang="en-US" altLang="ru-RU" sz="1200"/>
              <a:t> (</a:t>
            </a:r>
            <a:r>
              <a:rPr lang="en-US" altLang="en-US" sz="1200"/>
              <a:t>название</a:t>
            </a:r>
            <a:r>
              <a:rPr lang="en-US" altLang="ru-RU" sz="1200"/>
              <a:t>, </a:t>
            </a:r>
            <a:r>
              <a:rPr lang="en-US" altLang="en-US" sz="1200"/>
              <a:t>координаты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Trips – </a:t>
            </a:r>
            <a:r>
              <a:rPr lang="en-US" altLang="en-US" sz="1200"/>
              <a:t>выходы</a:t>
            </a:r>
            <a:r>
              <a:rPr lang="en-US" altLang="ru-RU" sz="1200"/>
              <a:t> </a:t>
            </a:r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промысел</a:t>
            </a:r>
            <a:r>
              <a:rPr lang="en-US" altLang="ru-RU" sz="1200"/>
              <a:t> (</a:t>
            </a:r>
            <a:r>
              <a:rPr lang="en-US" altLang="en-US" sz="1200"/>
              <a:t>катер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 </a:t>
            </a:r>
            <a:r>
              <a:rPr lang="en-US" altLang="en-US" sz="1200"/>
              <a:t>выхода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 </a:t>
            </a:r>
            <a:r>
              <a:rPr lang="en-US" altLang="en-US" sz="1200"/>
              <a:t>возвращения</a:t>
            </a:r>
            <a:r>
              <a:rPr lang="en-US" altLang="ru-RU" sz="1200"/>
              <a:t>)</a:t>
            </a:r>
            <a:r>
              <a:rPr lang="ru-RU" altLang="en-US" sz="1200"/>
              <a:t> 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TripCrew – </a:t>
            </a:r>
            <a:r>
              <a:rPr lang="en-US" altLang="en-US" sz="1200"/>
              <a:t>связь</a:t>
            </a:r>
            <a:r>
              <a:rPr lang="en-US" altLang="ru-RU" sz="1200"/>
              <a:t> </a:t>
            </a:r>
            <a:r>
              <a:rPr lang="en-US" altLang="en-US" sz="1200"/>
              <a:t>выходов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членов</a:t>
            </a:r>
            <a:r>
              <a:rPr lang="en-US" altLang="ru-RU" sz="1200"/>
              <a:t> </a:t>
            </a:r>
            <a:r>
              <a:rPr lang="en-US" altLang="en-US" sz="1200"/>
              <a:t>команды</a:t>
            </a:r>
            <a:r>
              <a:rPr lang="en-US" altLang="ru-RU" sz="1200"/>
              <a:t> (</a:t>
            </a:r>
            <a:r>
              <a:rPr lang="en-US" altLang="en-US" sz="1200"/>
              <a:t>кто</a:t>
            </a:r>
            <a:r>
              <a:rPr lang="en-US" altLang="ru-RU" sz="1200"/>
              <a:t> </a:t>
            </a:r>
            <a:r>
              <a:rPr lang="en-US" altLang="en-US" sz="1200"/>
              <a:t>участвовал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рейсе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Catch – </a:t>
            </a:r>
            <a:r>
              <a:rPr lang="en-US" altLang="en-US" sz="1200"/>
              <a:t>улов</a:t>
            </a:r>
            <a:r>
              <a:rPr lang="en-US" altLang="ru-RU" sz="1200"/>
              <a:t> (</a:t>
            </a:r>
            <a:r>
              <a:rPr lang="en-US" altLang="en-US" sz="1200"/>
              <a:t>выход</a:t>
            </a:r>
            <a:r>
              <a:rPr lang="en-US" altLang="ru-RU" sz="1200"/>
              <a:t>, </a:t>
            </a:r>
            <a:r>
              <a:rPr lang="en-US" altLang="en-US" sz="1200"/>
              <a:t>банка</a:t>
            </a:r>
            <a:r>
              <a:rPr lang="en-US" altLang="ru-RU" sz="1200"/>
              <a:t>, </a:t>
            </a:r>
            <a:r>
              <a:rPr lang="en-US" altLang="en-US" sz="1200"/>
              <a:t>сорт</a:t>
            </a:r>
            <a:r>
              <a:rPr lang="en-US" altLang="ru-RU" sz="1200"/>
              <a:t> </a:t>
            </a:r>
            <a:r>
              <a:rPr lang="en-US" altLang="en-US" sz="1200"/>
              <a:t>рыбы</a:t>
            </a:r>
            <a:r>
              <a:rPr lang="en-US" altLang="ru-RU" sz="1200"/>
              <a:t>, </a:t>
            </a:r>
            <a:r>
              <a:rPr lang="en-US" altLang="en-US" sz="1200"/>
              <a:t>вес</a:t>
            </a:r>
            <a:r>
              <a:rPr lang="en-US" altLang="ru-RU" sz="1200"/>
              <a:t>, </a:t>
            </a:r>
            <a:r>
              <a:rPr lang="en-US" altLang="en-US" sz="1200"/>
              <a:t>качество</a:t>
            </a:r>
            <a:r>
              <a:rPr lang="en-US" altLang="ru-RU" sz="1200"/>
              <a:t>, </a:t>
            </a:r>
            <a:r>
              <a:rPr lang="en-US" altLang="en-US" sz="1200"/>
              <a:t>даты</a:t>
            </a:r>
            <a:r>
              <a:rPr lang="en-US" altLang="ru-RU" sz="1200"/>
              <a:t> </a:t>
            </a:r>
            <a:r>
              <a:rPr lang="en-US" altLang="en-US" sz="1200"/>
              <a:t>прихода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отплытия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Products – </a:t>
            </a:r>
            <a:r>
              <a:rPr lang="en-US" altLang="en-US" sz="1200"/>
              <a:t>товары</a:t>
            </a:r>
            <a:r>
              <a:rPr lang="en-US" altLang="ru-RU" sz="1200"/>
              <a:t> </a:t>
            </a:r>
            <a:r>
              <a:rPr lang="en-US" altLang="en-US" sz="1200"/>
              <a:t>магазина</a:t>
            </a:r>
            <a:r>
              <a:rPr lang="en-US" altLang="ru-RU" sz="1200"/>
              <a:t> (</a:t>
            </a:r>
            <a:r>
              <a:rPr lang="en-US" altLang="en-US" sz="1200"/>
              <a:t>название</a:t>
            </a:r>
            <a:r>
              <a:rPr lang="en-US" altLang="ru-RU" sz="1200"/>
              <a:t>, </a:t>
            </a:r>
            <a:r>
              <a:rPr lang="en-US" altLang="en-US" sz="1200"/>
              <a:t>категория</a:t>
            </a:r>
            <a:r>
              <a:rPr lang="en-US" altLang="ru-RU" sz="1200"/>
              <a:t>, </a:t>
            </a:r>
            <a:r>
              <a:rPr lang="en-US" altLang="en-US" sz="1200"/>
              <a:t>производитель</a:t>
            </a:r>
            <a:r>
              <a:rPr lang="en-US" altLang="ru-RU" sz="1200"/>
              <a:t>, </a:t>
            </a:r>
            <a:r>
              <a:rPr lang="en-US" altLang="en-US" sz="1200"/>
              <a:t>цена</a:t>
            </a:r>
            <a:r>
              <a:rPr lang="en-US" altLang="ru-RU" sz="1200"/>
              <a:t>, </a:t>
            </a:r>
            <a:r>
              <a:rPr lang="en-US" altLang="en-US" sz="1200"/>
              <a:t>остаток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Sales – </a:t>
            </a:r>
            <a:r>
              <a:rPr lang="en-US" altLang="en-US" sz="1200"/>
              <a:t>продажи</a:t>
            </a:r>
            <a:r>
              <a:rPr lang="en-US" altLang="ru-RU" sz="1200"/>
              <a:t> (</a:t>
            </a:r>
            <a:r>
              <a:rPr lang="en-US" altLang="en-US" sz="1200"/>
              <a:t>клиент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, </a:t>
            </a:r>
            <a:r>
              <a:rPr lang="en-US" altLang="en-US" sz="1200"/>
              <a:t>сумма</a:t>
            </a:r>
            <a:r>
              <a:rPr lang="en-US" altLang="ru-RU" sz="1200"/>
              <a:t>, </a:t>
            </a:r>
            <a:r>
              <a:rPr lang="en-US" altLang="en-US" sz="1200"/>
              <a:t>метод</a:t>
            </a:r>
            <a:r>
              <a:rPr lang="en-US" altLang="ru-RU" sz="1200"/>
              <a:t> </a:t>
            </a:r>
            <a:r>
              <a:rPr lang="en-US" altLang="en-US" sz="1200"/>
              <a:t>оплаты</a:t>
            </a:r>
            <a:r>
              <a:rPr lang="en-US" altLang="ru-RU" sz="1200"/>
              <a:t>, </a:t>
            </a:r>
            <a:r>
              <a:rPr lang="en-US" altLang="en-US" sz="1200"/>
              <a:t>пользователь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SaleItems – </a:t>
            </a:r>
            <a:r>
              <a:rPr lang="en-US" altLang="en-US" sz="1200"/>
              <a:t>позиции</a:t>
            </a:r>
            <a:r>
              <a:rPr lang="en-US" altLang="ru-RU" sz="1200"/>
              <a:t> </a:t>
            </a:r>
            <a:r>
              <a:rPr lang="en-US" altLang="en-US" sz="1200"/>
              <a:t>продаж</a:t>
            </a:r>
            <a:r>
              <a:rPr lang="en-US" altLang="ru-RU" sz="1200"/>
              <a:t> (</a:t>
            </a:r>
            <a:r>
              <a:rPr lang="en-US" altLang="en-US" sz="1200"/>
              <a:t>товар</a:t>
            </a:r>
            <a:r>
              <a:rPr lang="en-US" altLang="ru-RU" sz="1200"/>
              <a:t>, </a:t>
            </a:r>
            <a:r>
              <a:rPr lang="en-US" altLang="en-US" sz="1200"/>
              <a:t>количество</a:t>
            </a:r>
            <a:r>
              <a:rPr lang="en-US" altLang="ru-RU" sz="1200"/>
              <a:t>, </a:t>
            </a:r>
            <a:r>
              <a:rPr lang="en-US" altLang="en-US" sz="1200"/>
              <a:t>цена</a:t>
            </a:r>
            <a:r>
              <a:rPr lang="en-US" altLang="ru-RU" sz="1200"/>
              <a:t> </a:t>
            </a:r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момент</a:t>
            </a:r>
            <a:r>
              <a:rPr lang="en-US" altLang="ru-RU" sz="1200"/>
              <a:t> </a:t>
            </a:r>
            <a:r>
              <a:rPr lang="en-US" altLang="en-US" sz="1200"/>
              <a:t>продажи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endParaRPr lang="en-US" altLang="ru-RU" sz="120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46570" y="1845945"/>
            <a:ext cx="5059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400">
                <a:sym typeface="+mn-ea"/>
              </a:rPr>
              <a:t>Всего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таблиц</a:t>
            </a:r>
            <a:r>
              <a:rPr lang="en-US" altLang="ru-RU" sz="1400">
                <a:sym typeface="+mn-ea"/>
              </a:rPr>
              <a:t>: 11 (</a:t>
            </a:r>
            <a:r>
              <a:rPr lang="en-US" altLang="en-US" sz="1400">
                <a:sym typeface="+mn-ea"/>
              </a:rPr>
              <a:t>плюс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вспомогательные</a:t>
            </a:r>
            <a:r>
              <a:rPr lang="en-US" altLang="ru-RU" sz="1400">
                <a:sym typeface="+mn-ea"/>
              </a:rPr>
              <a:t> Categories, Manufacturers, Suppliers, Customers, ProductImages, Purchases, PurchaseItems, SiteImages – </a:t>
            </a:r>
            <a:r>
              <a:rPr lang="en-US" altLang="en-US" sz="1400">
                <a:sym typeface="+mn-ea"/>
              </a:rPr>
              <a:t>при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наличии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в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проекте</a:t>
            </a:r>
            <a:r>
              <a:rPr lang="en-US" altLang="ru-RU" sz="1400">
                <a:sym typeface="+mn-ea"/>
              </a:rPr>
              <a:t>).</a:t>
            </a:r>
            <a:endParaRPr lang="en-US" altLang="ru-RU" sz="1400"/>
          </a:p>
          <a:p>
            <a:pPr algn="ctr"/>
            <a:endParaRPr lang="ru-RU" altLang="en-US" sz="140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35" y="2799080"/>
            <a:ext cx="5257165" cy="3999230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610" y="2640330"/>
            <a:ext cx="4602480" cy="915035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305" y="3194685"/>
            <a:ext cx="5181600" cy="1095375"/>
          </a:xfrm>
          <a:prstGeom prst="rect">
            <a:avLst/>
          </a:prstGeom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015" y="2813050"/>
            <a:ext cx="2165985" cy="1529715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2410" y="3651250"/>
            <a:ext cx="3069590" cy="755650"/>
          </a:xfrm>
          <a:prstGeom prst="rect">
            <a:avLst/>
          </a:prstGeom>
        </p:spPr>
      </p:pic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8295" y="4153535"/>
            <a:ext cx="3039110" cy="1539240"/>
          </a:xfrm>
          <a:prstGeom prst="rect">
            <a:avLst/>
          </a:prstGeom>
        </p:spPr>
      </p:pic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00" y="5499735"/>
            <a:ext cx="1635760" cy="1028065"/>
          </a:xfrm>
          <a:prstGeom prst="rect">
            <a:avLst/>
          </a:prstGeom>
        </p:spPr>
      </p:pic>
      <p:pic>
        <p:nvPicPr>
          <p:cNvPr id="16" name="Изображение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300" y="4612640"/>
            <a:ext cx="2901315" cy="1068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Импорт данных в 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945"/>
            <a:ext cx="9279255" cy="4023360"/>
          </a:xfrm>
        </p:spPr>
        <p:txBody>
          <a:bodyPr>
            <a:normAutofit fontScale="80000"/>
          </a:bodyPr>
          <a:lstStyle/>
          <a:p>
            <a:r>
              <a:rPr lang="en-US" altLang="en-US" dirty="0"/>
              <a:t>Первичное</a:t>
            </a:r>
            <a:r>
              <a:rPr lang="en-US" altLang="ru-RU" dirty="0"/>
              <a:t> </a:t>
            </a:r>
            <a:r>
              <a:rPr lang="en-US" altLang="en-US" dirty="0"/>
              <a:t>наполнение</a:t>
            </a:r>
            <a:r>
              <a:rPr lang="en-US" altLang="ru-RU" dirty="0"/>
              <a:t> </a:t>
            </a:r>
            <a:r>
              <a:rPr lang="en-US" altLang="en-US" dirty="0"/>
              <a:t>базы</a:t>
            </a:r>
            <a:r>
              <a:rPr lang="en-US" altLang="ru-RU" dirty="0"/>
              <a:t> </a:t>
            </a:r>
            <a:r>
              <a:rPr lang="en-US" altLang="en-US" dirty="0"/>
              <a:t>данных</a:t>
            </a:r>
            <a:r>
              <a:rPr lang="en-US" altLang="ru-RU" dirty="0"/>
              <a:t> </a:t>
            </a:r>
            <a:r>
              <a:rPr lang="en-US" altLang="en-US" dirty="0"/>
              <a:t>осуществлялось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основе</a:t>
            </a:r>
            <a:r>
              <a:rPr lang="en-US" altLang="ru-RU" dirty="0"/>
              <a:t> </a:t>
            </a:r>
            <a:r>
              <a:rPr lang="en-US" altLang="en-US" dirty="0"/>
              <a:t>подготовленного</a:t>
            </a:r>
            <a:r>
              <a:rPr lang="en-US" altLang="ru-RU" dirty="0"/>
              <a:t> Excel-</a:t>
            </a:r>
            <a:r>
              <a:rPr lang="en-US" altLang="en-US" dirty="0"/>
              <a:t>файла</a:t>
            </a:r>
            <a:r>
              <a:rPr lang="en-US" altLang="ru-RU" dirty="0"/>
              <a:t>, </a:t>
            </a:r>
            <a:r>
              <a:rPr lang="en-US" altLang="en-US" dirty="0"/>
              <a:t>содержащего</a:t>
            </a:r>
            <a:r>
              <a:rPr lang="en-US" altLang="ru-RU" dirty="0"/>
              <a:t> </a:t>
            </a:r>
            <a:r>
              <a:rPr lang="en-US" altLang="en-US" dirty="0"/>
              <a:t>структурированные</a:t>
            </a:r>
            <a:r>
              <a:rPr lang="en-US" altLang="ru-RU" dirty="0"/>
              <a:t> </a:t>
            </a:r>
            <a:r>
              <a:rPr lang="en-US" altLang="en-US" dirty="0"/>
              <a:t>данные</a:t>
            </a:r>
            <a:r>
              <a:rPr lang="en-US" altLang="ru-RU" dirty="0"/>
              <a:t> </a:t>
            </a:r>
            <a:r>
              <a:rPr lang="en-US" altLang="en-US" dirty="0"/>
              <a:t>по</a:t>
            </a:r>
            <a:r>
              <a:rPr lang="en-US" altLang="ru-RU" dirty="0"/>
              <a:t> </a:t>
            </a:r>
            <a:r>
              <a:rPr lang="en-US" altLang="en-US" dirty="0"/>
              <a:t>всем</a:t>
            </a:r>
            <a:r>
              <a:rPr lang="en-US" altLang="ru-RU" dirty="0"/>
              <a:t> </a:t>
            </a:r>
            <a:r>
              <a:rPr lang="en-US" altLang="en-US" dirty="0"/>
              <a:t>сущностям</a:t>
            </a:r>
            <a:r>
              <a:rPr lang="en-US" altLang="ru-RU" dirty="0"/>
              <a:t> </a:t>
            </a:r>
            <a:r>
              <a:rPr lang="en-US" altLang="en-US" dirty="0"/>
              <a:t>предметной</a:t>
            </a:r>
            <a:r>
              <a:rPr lang="en-US" altLang="ru-RU" dirty="0"/>
              <a:t> </a:t>
            </a:r>
            <a:r>
              <a:rPr lang="en-US" altLang="en-US" dirty="0"/>
              <a:t>области</a:t>
            </a:r>
            <a:r>
              <a:rPr lang="en-US" altLang="ru-RU" dirty="0"/>
              <a:t>. </a:t>
            </a:r>
            <a:r>
              <a:rPr lang="en-US" altLang="en-US" dirty="0"/>
              <a:t>Файл</a:t>
            </a:r>
            <a:r>
              <a:rPr lang="en-US" altLang="ru-RU" dirty="0"/>
              <a:t> </a:t>
            </a:r>
            <a:r>
              <a:rPr lang="en-US" altLang="en-US" dirty="0"/>
              <a:t>включал</a:t>
            </a:r>
            <a:r>
              <a:rPr lang="en-US" altLang="ru-RU" dirty="0"/>
              <a:t> </a:t>
            </a:r>
            <a:r>
              <a:rPr lang="en-US" altLang="en-US" dirty="0"/>
              <a:t>отдельные</a:t>
            </a:r>
            <a:r>
              <a:rPr lang="en-US" altLang="ru-RU" dirty="0"/>
              <a:t> </a:t>
            </a:r>
            <a:r>
              <a:rPr lang="en-US" altLang="en-US" dirty="0"/>
              <a:t>листы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катеров</a:t>
            </a:r>
            <a:r>
              <a:rPr lang="en-US" altLang="ru-RU" dirty="0"/>
              <a:t>, </a:t>
            </a:r>
            <a:r>
              <a:rPr lang="en-US" altLang="en-US" dirty="0"/>
              <a:t>членов</a:t>
            </a:r>
            <a:r>
              <a:rPr lang="en-US" altLang="ru-RU" dirty="0"/>
              <a:t> </a:t>
            </a:r>
            <a:r>
              <a:rPr lang="en-US" altLang="en-US" dirty="0"/>
              <a:t>команды</a:t>
            </a:r>
            <a:r>
              <a:rPr lang="en-US" altLang="ru-RU" dirty="0"/>
              <a:t>, </a:t>
            </a:r>
            <a:r>
              <a:rPr lang="en-US" altLang="en-US" dirty="0"/>
              <a:t>банок</a:t>
            </a:r>
            <a:r>
              <a:rPr lang="en-US" altLang="ru-RU" dirty="0"/>
              <a:t>, </a:t>
            </a:r>
            <a:r>
              <a:rPr lang="en-US" altLang="en-US" dirty="0"/>
              <a:t>выходов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промысел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улова</a:t>
            </a:r>
            <a:r>
              <a:rPr lang="en-US" altLang="ru-RU" dirty="0"/>
              <a:t>, </a:t>
            </a:r>
            <a:r>
              <a:rPr lang="en-US" altLang="en-US" dirty="0"/>
              <a:t>что</a:t>
            </a:r>
            <a:r>
              <a:rPr lang="en-US" altLang="ru-RU" dirty="0"/>
              <a:t> </a:t>
            </a:r>
            <a:r>
              <a:rPr lang="en-US" altLang="en-US" dirty="0"/>
              <a:t>позволило</a:t>
            </a:r>
            <a:r>
              <a:rPr lang="en-US" altLang="ru-RU" dirty="0"/>
              <a:t> </a:t>
            </a:r>
            <a:r>
              <a:rPr lang="en-US" altLang="en-US" dirty="0"/>
              <a:t>систематизировать</a:t>
            </a:r>
            <a:r>
              <a:rPr lang="en-US" altLang="ru-RU" dirty="0"/>
              <a:t> </a:t>
            </a:r>
            <a:r>
              <a:rPr lang="en-US" altLang="en-US" dirty="0"/>
              <a:t>информацию</a:t>
            </a:r>
            <a:r>
              <a:rPr lang="en-US" altLang="ru-RU" dirty="0"/>
              <a:t> </a:t>
            </a:r>
            <a:r>
              <a:rPr lang="en-US" altLang="en-US" dirty="0"/>
              <a:t>перед</a:t>
            </a:r>
            <a:r>
              <a:rPr lang="en-US" altLang="ru-RU" dirty="0"/>
              <a:t> </a:t>
            </a:r>
            <a:r>
              <a:rPr lang="en-US" altLang="en-US" dirty="0"/>
              <a:t>импортом</a:t>
            </a:r>
            <a:r>
              <a:rPr lang="en-US" altLang="ru-RU" dirty="0"/>
              <a:t>.</a:t>
            </a:r>
            <a:endParaRPr lang="en-US" altLang="ru-RU" dirty="0"/>
          </a:p>
          <a:p>
            <a:r>
              <a:rPr lang="en-US" altLang="en-US" dirty="0"/>
              <a:t>Импорт</a:t>
            </a:r>
            <a:r>
              <a:rPr lang="en-US" altLang="ru-RU" dirty="0"/>
              <a:t> </a:t>
            </a:r>
            <a:r>
              <a:rPr lang="en-US" altLang="en-US" dirty="0"/>
              <a:t>выполнялся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несколько</a:t>
            </a:r>
            <a:r>
              <a:rPr lang="en-US" altLang="ru-RU" dirty="0"/>
              <a:t> </a:t>
            </a:r>
            <a:r>
              <a:rPr lang="en-US" altLang="en-US" dirty="0"/>
              <a:t>этапов</a:t>
            </a:r>
            <a:r>
              <a:rPr lang="en-US" altLang="ru-RU" dirty="0"/>
              <a:t>: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Предварительная</a:t>
            </a:r>
            <a:r>
              <a:rPr lang="en-US" altLang="ru-RU" dirty="0"/>
              <a:t> </a:t>
            </a:r>
            <a:r>
              <a:rPr lang="en-US" altLang="en-US" dirty="0"/>
              <a:t>обработка</a:t>
            </a:r>
            <a:r>
              <a:rPr lang="en-US" altLang="ru-RU" dirty="0"/>
              <a:t> – </a:t>
            </a:r>
            <a:r>
              <a:rPr lang="en-US" altLang="en-US" dirty="0"/>
              <a:t>проверка</a:t>
            </a:r>
            <a:r>
              <a:rPr lang="en-US" altLang="ru-RU" dirty="0"/>
              <a:t> </a:t>
            </a:r>
            <a:r>
              <a:rPr lang="en-US" altLang="en-US" dirty="0"/>
              <a:t>данных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Excel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полноту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корректность</a:t>
            </a:r>
            <a:r>
              <a:rPr lang="en-US" altLang="ru-RU" dirty="0"/>
              <a:t> (</a:t>
            </a:r>
            <a:r>
              <a:rPr lang="en-US" altLang="en-US" dirty="0"/>
              <a:t>уникальность</a:t>
            </a:r>
            <a:r>
              <a:rPr lang="en-US" altLang="ru-RU" dirty="0"/>
              <a:t> </a:t>
            </a:r>
            <a:r>
              <a:rPr lang="en-US" altLang="en-US" dirty="0"/>
              <a:t>идентификаторов</a:t>
            </a:r>
            <a:r>
              <a:rPr lang="en-US" altLang="ru-RU" dirty="0"/>
              <a:t>, </a:t>
            </a:r>
            <a:r>
              <a:rPr lang="en-US" altLang="en-US" dirty="0"/>
              <a:t>соответствие</a:t>
            </a:r>
            <a:r>
              <a:rPr lang="en-US" altLang="ru-RU" dirty="0"/>
              <a:t> </a:t>
            </a:r>
            <a:r>
              <a:rPr lang="en-US" altLang="en-US" dirty="0"/>
              <a:t>типов</a:t>
            </a:r>
            <a:r>
              <a:rPr lang="en-US" altLang="ru-RU" dirty="0"/>
              <a:t>, </a:t>
            </a:r>
            <a:r>
              <a:rPr lang="en-US" altLang="en-US" dirty="0"/>
              <a:t>наличие</a:t>
            </a:r>
            <a:r>
              <a:rPr lang="en-US" altLang="ru-RU" dirty="0"/>
              <a:t> </a:t>
            </a:r>
            <a:r>
              <a:rPr lang="en-US" altLang="en-US" dirty="0"/>
              <a:t>обязательных</a:t>
            </a:r>
            <a:r>
              <a:rPr lang="en-US" altLang="ru-RU" dirty="0"/>
              <a:t> </a:t>
            </a:r>
            <a:r>
              <a:rPr lang="en-US" altLang="en-US" dirty="0"/>
              <a:t>полей</a:t>
            </a:r>
            <a:r>
              <a:rPr lang="en-US" altLang="ru-RU" dirty="0"/>
              <a:t>).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Экспорт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CSV – </a:t>
            </a:r>
            <a:r>
              <a:rPr lang="en-US" altLang="en-US" dirty="0"/>
              <a:t>преобразование</a:t>
            </a:r>
            <a:r>
              <a:rPr lang="en-US" altLang="ru-RU" dirty="0"/>
              <a:t> </a:t>
            </a:r>
            <a:r>
              <a:rPr lang="en-US" altLang="en-US" dirty="0"/>
              <a:t>листов</a:t>
            </a:r>
            <a:r>
              <a:rPr lang="en-US" altLang="ru-RU" dirty="0"/>
              <a:t> Excel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текстовые</a:t>
            </a:r>
            <a:r>
              <a:rPr lang="en-US" altLang="ru-RU" dirty="0"/>
              <a:t> </a:t>
            </a:r>
            <a:r>
              <a:rPr lang="en-US" altLang="en-US" dirty="0"/>
              <a:t>файлы</a:t>
            </a:r>
            <a:r>
              <a:rPr lang="en-US" altLang="ru-RU" dirty="0"/>
              <a:t> </a:t>
            </a:r>
            <a:r>
              <a:rPr lang="en-US" altLang="en-US" dirty="0"/>
              <a:t>с</a:t>
            </a:r>
            <a:r>
              <a:rPr lang="en-US" altLang="ru-RU" dirty="0"/>
              <a:t> </a:t>
            </a:r>
            <a:r>
              <a:rPr lang="en-US" altLang="en-US" dirty="0"/>
              <a:t>разделителями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последующего</a:t>
            </a:r>
            <a:r>
              <a:rPr lang="en-US" altLang="ru-RU" dirty="0"/>
              <a:t> </a:t>
            </a:r>
            <a:r>
              <a:rPr lang="en-US" altLang="en-US" dirty="0"/>
              <a:t>импорта</a:t>
            </a:r>
            <a:r>
              <a:rPr lang="en-US" altLang="ru-RU" dirty="0"/>
              <a:t>.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Загрузка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SQL Server – </a:t>
            </a:r>
            <a:r>
              <a:rPr lang="en-US" altLang="en-US" dirty="0"/>
              <a:t>использование</a:t>
            </a:r>
            <a:r>
              <a:rPr lang="en-US" altLang="ru-RU" dirty="0"/>
              <a:t> </a:t>
            </a:r>
            <a:r>
              <a:rPr lang="en-US" altLang="en-US" dirty="0"/>
              <a:t>мастера</a:t>
            </a:r>
            <a:r>
              <a:rPr lang="en-US" altLang="ru-RU" dirty="0"/>
              <a:t> </a:t>
            </a:r>
            <a:r>
              <a:rPr lang="en-US" altLang="en-US" dirty="0"/>
              <a:t>импорта</a:t>
            </a:r>
            <a:r>
              <a:rPr lang="en-US" altLang="ru-RU" dirty="0"/>
              <a:t> SQL Server Management Studio (SSMS)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переноса</a:t>
            </a:r>
            <a:r>
              <a:rPr lang="en-US" altLang="ru-RU" dirty="0"/>
              <a:t> </a:t>
            </a:r>
            <a:r>
              <a:rPr lang="en-US" altLang="en-US" dirty="0"/>
              <a:t>данных</a:t>
            </a:r>
            <a:r>
              <a:rPr lang="en-US" altLang="ru-RU" dirty="0"/>
              <a:t> </a:t>
            </a:r>
            <a:r>
              <a:rPr lang="en-US" altLang="en-US" dirty="0"/>
              <a:t>из</a:t>
            </a:r>
            <a:r>
              <a:rPr lang="en-US" altLang="ru-RU" dirty="0"/>
              <a:t> CSV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соответствующие</a:t>
            </a:r>
            <a:r>
              <a:rPr lang="en-US" altLang="ru-RU" dirty="0"/>
              <a:t> </a:t>
            </a:r>
            <a:r>
              <a:rPr lang="en-US" altLang="en-US" dirty="0"/>
              <a:t>таблицы</a:t>
            </a:r>
            <a:r>
              <a:rPr lang="en-US" altLang="ru-RU" dirty="0"/>
              <a:t>.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Контроль</a:t>
            </a:r>
            <a:r>
              <a:rPr lang="en-US" altLang="ru-RU" dirty="0"/>
              <a:t> </a:t>
            </a:r>
            <a:r>
              <a:rPr lang="en-US" altLang="en-US" dirty="0"/>
              <a:t>целостности</a:t>
            </a:r>
            <a:r>
              <a:rPr lang="en-US" altLang="ru-RU" dirty="0"/>
              <a:t> – </a:t>
            </a:r>
            <a:r>
              <a:rPr lang="en-US" altLang="en-US" dirty="0"/>
              <a:t>проверка</a:t>
            </a:r>
            <a:r>
              <a:rPr lang="en-US" altLang="ru-RU" dirty="0"/>
              <a:t> </a:t>
            </a:r>
            <a:r>
              <a:rPr lang="en-US" altLang="en-US" dirty="0"/>
              <a:t>ссылочной</a:t>
            </a:r>
            <a:r>
              <a:rPr lang="en-US" altLang="ru-RU" dirty="0"/>
              <a:t> </a:t>
            </a:r>
            <a:r>
              <a:rPr lang="en-US" altLang="en-US" dirty="0"/>
              <a:t>целостности</a:t>
            </a:r>
            <a:r>
              <a:rPr lang="en-US" altLang="ru-RU" dirty="0"/>
              <a:t> </a:t>
            </a:r>
            <a:r>
              <a:rPr lang="en-US" altLang="en-US" dirty="0"/>
              <a:t>после</a:t>
            </a:r>
            <a:r>
              <a:rPr lang="en-US" altLang="ru-RU" dirty="0"/>
              <a:t> </a:t>
            </a:r>
            <a:r>
              <a:rPr lang="en-US" altLang="en-US" dirty="0"/>
              <a:t>импорта</a:t>
            </a:r>
            <a:r>
              <a:rPr lang="en-US" altLang="ru-RU" dirty="0"/>
              <a:t> (</a:t>
            </a:r>
            <a:r>
              <a:rPr lang="en-US" altLang="en-US" dirty="0"/>
              <a:t>внешние</a:t>
            </a:r>
            <a:r>
              <a:rPr lang="en-US" altLang="ru-RU" dirty="0"/>
              <a:t> </a:t>
            </a:r>
            <a:r>
              <a:rPr lang="en-US" altLang="en-US" dirty="0"/>
              <a:t>ключи</a:t>
            </a:r>
            <a:r>
              <a:rPr lang="en-US" altLang="ru-RU" dirty="0"/>
              <a:t>, </a:t>
            </a:r>
            <a:r>
              <a:rPr lang="en-US" altLang="en-US" dirty="0"/>
              <a:t>отсутствие</a:t>
            </a:r>
            <a:r>
              <a:rPr lang="en-US" altLang="ru-RU" dirty="0"/>
              <a:t> </a:t>
            </a:r>
            <a:r>
              <a:rPr lang="en-US" altLang="en-US" dirty="0"/>
              <a:t>«</a:t>
            </a:r>
            <a:r>
              <a:rPr lang="en-US" altLang="en-US" dirty="0"/>
              <a:t>висячих</a:t>
            </a:r>
            <a:r>
              <a:rPr lang="en-US" altLang="en-US" dirty="0"/>
              <a:t>»</a:t>
            </a:r>
            <a:r>
              <a:rPr lang="en-US" altLang="ru-RU" dirty="0"/>
              <a:t> </a:t>
            </a:r>
            <a:r>
              <a:rPr lang="en-US" altLang="en-US" dirty="0"/>
              <a:t>записей</a:t>
            </a:r>
            <a:r>
              <a:rPr lang="en-US" altLang="ru-RU" dirty="0"/>
              <a:t>).</a:t>
            </a:r>
            <a:endParaRPr lang="en-US" alt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Главное окно системы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3340" y="1845945"/>
            <a:ext cx="6223635" cy="40233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023860" y="19113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часть</a:t>
            </a:r>
            <a:r>
              <a:rPr lang="en-US" altLang="ru-RU"/>
              <a:t> </a:t>
            </a:r>
            <a:r>
              <a:rPr lang="en-US" altLang="en-US"/>
              <a:t>содержит</a:t>
            </a:r>
            <a:r>
              <a:rPr lang="en-US" altLang="ru-RU"/>
              <a:t> </a:t>
            </a:r>
            <a:r>
              <a:rPr lang="en-US" altLang="en-US"/>
              <a:t>две</a:t>
            </a:r>
            <a:r>
              <a:rPr lang="en-US" altLang="ru-RU"/>
              <a:t> </a:t>
            </a:r>
            <a:r>
              <a:rPr lang="en-US" altLang="en-US"/>
              <a:t>радиокнопки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переключения</a:t>
            </a:r>
            <a:r>
              <a:rPr lang="en-US" altLang="ru-RU"/>
              <a:t> </a:t>
            </a:r>
            <a:r>
              <a:rPr lang="en-US" altLang="en-US"/>
              <a:t>между</a:t>
            </a:r>
            <a:r>
              <a:rPr lang="en-US" altLang="ru-RU"/>
              <a:t> </a:t>
            </a:r>
            <a:r>
              <a:rPr lang="en-US" altLang="en-US"/>
              <a:t>подсистемами</a:t>
            </a:r>
            <a:r>
              <a:rPr lang="en-US" altLang="ru-RU"/>
              <a:t>: </a:t>
            </a:r>
            <a:r>
              <a:rPr lang="en-US" altLang="en-US"/>
              <a:t>«</a:t>
            </a:r>
            <a:r>
              <a:rPr lang="en-US" altLang="en-US"/>
              <a:t>Магазин</a:t>
            </a:r>
            <a:r>
              <a:rPr lang="en-US" altLang="en-US"/>
              <a:t>»</a:t>
            </a:r>
            <a:r>
              <a:rPr lang="en-US" altLang="ru-RU"/>
              <a:t> (</a:t>
            </a:r>
            <a:r>
              <a:rPr lang="en-US" altLang="en-US"/>
              <a:t>учёт</a:t>
            </a:r>
            <a:r>
              <a:rPr lang="en-US" altLang="ru-RU"/>
              <a:t> </a:t>
            </a:r>
            <a:r>
              <a:rPr lang="en-US" altLang="en-US"/>
              <a:t>товаров</a:t>
            </a:r>
            <a:r>
              <a:rPr lang="en-US" altLang="ru-RU"/>
              <a:t>, </a:t>
            </a:r>
            <a:r>
              <a:rPr lang="en-US" altLang="en-US"/>
              <a:t>продаж</a:t>
            </a:r>
            <a:r>
              <a:rPr lang="en-US" altLang="ru-RU"/>
              <a:t>, </a:t>
            </a:r>
            <a:r>
              <a:rPr lang="en-US" altLang="en-US"/>
              <a:t>закупок</a:t>
            </a:r>
            <a:r>
              <a:rPr lang="en-US" altLang="ru-RU"/>
              <a:t>, </a:t>
            </a:r>
            <a:r>
              <a:rPr lang="en-US" altLang="en-US"/>
              <a:t>клиентов</a:t>
            </a:r>
            <a:r>
              <a:rPr lang="en-US" altLang="ru-RU"/>
              <a:t>, </a:t>
            </a:r>
            <a:r>
              <a:rPr lang="en-US" altLang="en-US"/>
              <a:t>поставщиков</a:t>
            </a:r>
            <a:r>
              <a:rPr lang="en-US" altLang="ru-RU"/>
              <a:t>, </a:t>
            </a:r>
            <a:r>
              <a:rPr lang="en-US" altLang="en-US"/>
              <a:t>пользователей</a:t>
            </a:r>
            <a:r>
              <a:rPr lang="en-US" altLang="ru-RU"/>
              <a:t>, </a:t>
            </a:r>
            <a:r>
              <a:rPr lang="en-US" altLang="en-US"/>
              <a:t>отчёты</a:t>
            </a:r>
            <a:r>
              <a:rPr lang="en-US" altLang="ru-RU"/>
              <a:t>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«</a:t>
            </a:r>
            <a:r>
              <a:rPr lang="en-US" altLang="en-US"/>
              <a:t>Учёт</a:t>
            </a:r>
            <a:r>
              <a:rPr lang="en-US" altLang="ru-RU"/>
              <a:t> </a:t>
            </a:r>
            <a:r>
              <a:rPr lang="en-US" altLang="en-US"/>
              <a:t>флота</a:t>
            </a:r>
            <a:r>
              <a:rPr lang="en-US" altLang="en-US"/>
              <a:t>»</a:t>
            </a:r>
            <a:r>
              <a:rPr lang="en-US" altLang="ru-RU"/>
              <a:t> (</a:t>
            </a:r>
            <a:r>
              <a:rPr lang="en-US" altLang="en-US"/>
              <a:t>катера</a:t>
            </a:r>
            <a:r>
              <a:rPr lang="en-US" altLang="ru-RU"/>
              <a:t>, </a:t>
            </a:r>
            <a:r>
              <a:rPr lang="en-US" altLang="en-US"/>
              <a:t>команда</a:t>
            </a:r>
            <a:r>
              <a:rPr lang="en-US" altLang="ru-RU"/>
              <a:t>, </a:t>
            </a:r>
            <a:r>
              <a:rPr lang="en-US" altLang="en-US"/>
              <a:t>банки</a:t>
            </a:r>
            <a:r>
              <a:rPr lang="en-US" altLang="ru-RU"/>
              <a:t>, </a:t>
            </a:r>
            <a:r>
              <a:rPr lang="en-US" altLang="en-US"/>
              <a:t>выходы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промысел</a:t>
            </a:r>
            <a:r>
              <a:rPr lang="en-US" altLang="ru-RU"/>
              <a:t>, </a:t>
            </a:r>
            <a:r>
              <a:rPr lang="en-US" altLang="en-US"/>
              <a:t>улов</a:t>
            </a:r>
            <a:r>
              <a:rPr lang="en-US" altLang="ru-RU"/>
              <a:t>). </a:t>
            </a:r>
            <a:r>
              <a:rPr lang="en-US" altLang="en-US"/>
              <a:t>Выбранный</a:t>
            </a:r>
            <a:r>
              <a:rPr lang="en-US" altLang="ru-RU"/>
              <a:t> </a:t>
            </a:r>
            <a:r>
              <a:rPr lang="en-US" altLang="en-US"/>
              <a:t>раздел</a:t>
            </a:r>
            <a:r>
              <a:rPr lang="en-US" altLang="ru-RU"/>
              <a:t> </a:t>
            </a:r>
            <a:r>
              <a:rPr lang="en-US" altLang="en-US"/>
              <a:t>открывается</a:t>
            </a:r>
            <a:r>
              <a:rPr lang="en-US" altLang="ru-RU"/>
              <a:t> </a:t>
            </a:r>
            <a:r>
              <a:rPr lang="en-US" altLang="en-US"/>
              <a:t>во</a:t>
            </a:r>
            <a:r>
              <a:rPr lang="en-US" altLang="ru-RU"/>
              <a:t> </a:t>
            </a:r>
            <a:r>
              <a:rPr lang="en-US" altLang="en-US"/>
              <a:t>вкладках</a:t>
            </a:r>
            <a:r>
              <a:rPr lang="en-US" altLang="ru-RU"/>
              <a:t>, </a:t>
            </a:r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одновременно</a:t>
            </a:r>
            <a:r>
              <a:rPr lang="en-US" altLang="ru-RU"/>
              <a:t> </a:t>
            </a:r>
            <a:r>
              <a:rPr lang="en-US" altLang="en-US"/>
              <a:t>работать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несколькими</a:t>
            </a:r>
            <a:r>
              <a:rPr lang="en-US" altLang="ru-RU"/>
              <a:t> </a:t>
            </a:r>
            <a:r>
              <a:rPr lang="en-US" altLang="en-US"/>
              <a:t>модулями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Окно Авторизации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1555" y="1845945"/>
            <a:ext cx="2730500" cy="430720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4358640" y="2042795"/>
            <a:ext cx="657987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вводит</a:t>
            </a:r>
            <a:r>
              <a:rPr lang="en-US" altLang="ru-RU"/>
              <a:t> </a:t>
            </a:r>
            <a:r>
              <a:rPr lang="en-US" altLang="en-US"/>
              <a:t>логин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пароль</a:t>
            </a:r>
            <a:r>
              <a:rPr lang="en-US" altLang="ru-RU"/>
              <a:t>, </a:t>
            </a:r>
            <a:r>
              <a:rPr lang="en-US" altLang="en-US"/>
              <a:t>после</a:t>
            </a:r>
            <a:r>
              <a:rPr lang="en-US" altLang="ru-RU"/>
              <a:t> </a:t>
            </a:r>
            <a:r>
              <a:rPr lang="en-US" altLang="en-US"/>
              <a:t>чего</a:t>
            </a:r>
            <a:r>
              <a:rPr lang="en-US" altLang="ru-RU"/>
              <a:t>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проверяет</a:t>
            </a:r>
            <a:r>
              <a:rPr lang="en-US" altLang="ru-RU"/>
              <a:t> </a:t>
            </a:r>
            <a:r>
              <a:rPr lang="en-US" altLang="en-US"/>
              <a:t>учётные</a:t>
            </a:r>
            <a:r>
              <a:rPr lang="en-US" altLang="ru-RU"/>
              <a:t> </a:t>
            </a:r>
            <a:r>
              <a:rPr lang="en-US" altLang="en-US"/>
              <a:t>данные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определяет</a:t>
            </a:r>
            <a:r>
              <a:rPr lang="en-US" altLang="ru-RU"/>
              <a:t> </a:t>
            </a:r>
            <a:r>
              <a:rPr lang="en-US" altLang="en-US"/>
              <a:t>роль</a:t>
            </a:r>
            <a:r>
              <a:rPr lang="en-US" altLang="ru-RU"/>
              <a:t> (</a:t>
            </a:r>
            <a:r>
              <a:rPr lang="en-US" altLang="en-US"/>
              <a:t>администратор</a:t>
            </a:r>
            <a:r>
              <a:rPr lang="en-US" altLang="ru-RU"/>
              <a:t>, </a:t>
            </a:r>
            <a:r>
              <a:rPr lang="en-US" altLang="en-US"/>
              <a:t>менеджер</a:t>
            </a:r>
            <a:r>
              <a:rPr lang="en-US" altLang="ru-RU"/>
              <a:t>, </a:t>
            </a:r>
            <a:r>
              <a:rPr lang="en-US" altLang="en-US"/>
              <a:t>кассир</a:t>
            </a:r>
            <a:r>
              <a:rPr lang="en-US" altLang="ru-RU"/>
              <a:t>, </a:t>
            </a:r>
            <a:r>
              <a:rPr lang="en-US" altLang="en-US"/>
              <a:t>кладовщик</a:t>
            </a:r>
            <a:r>
              <a:rPr lang="en-US" altLang="ru-RU"/>
              <a:t>, </a:t>
            </a:r>
            <a:r>
              <a:rPr lang="en-US" altLang="en-US"/>
              <a:t>директор</a:t>
            </a:r>
            <a:r>
              <a:rPr lang="en-US" altLang="ru-RU"/>
              <a:t>, </a:t>
            </a:r>
            <a:r>
              <a:rPr lang="en-US" altLang="en-US"/>
              <a:t>гость</a:t>
            </a:r>
            <a:r>
              <a:rPr lang="en-US" altLang="ru-RU"/>
              <a:t>).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предусмотрен</a:t>
            </a:r>
            <a:r>
              <a:rPr lang="en-US" altLang="ru-RU"/>
              <a:t> </a:t>
            </a:r>
            <a:r>
              <a:rPr lang="en-US" altLang="en-US"/>
              <a:t>гостевой</a:t>
            </a:r>
            <a:r>
              <a:rPr lang="en-US" altLang="ru-RU"/>
              <a:t> </a:t>
            </a:r>
            <a:r>
              <a:rPr lang="en-US" altLang="en-US"/>
              <a:t>вход</a:t>
            </a:r>
            <a:r>
              <a:rPr lang="en-US" altLang="ru-RU"/>
              <a:t> </a:t>
            </a:r>
            <a:r>
              <a:rPr lang="en-US" altLang="en-US"/>
              <a:t>без</a:t>
            </a:r>
            <a:r>
              <a:rPr lang="en-US" altLang="ru-RU"/>
              <a:t> </a:t>
            </a:r>
            <a:r>
              <a:rPr lang="en-US" altLang="en-US"/>
              <a:t>регистрации</a:t>
            </a:r>
            <a:r>
              <a:rPr lang="en-US" altLang="ru-RU"/>
              <a:t>, </a:t>
            </a:r>
            <a:r>
              <a:rPr lang="en-US" altLang="en-US"/>
              <a:t>дающий</a:t>
            </a:r>
            <a:r>
              <a:rPr lang="en-US" altLang="ru-RU"/>
              <a:t> </a:t>
            </a:r>
            <a:r>
              <a:rPr lang="en-US" altLang="en-US"/>
              <a:t>доступ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просмотру</a:t>
            </a:r>
            <a:r>
              <a:rPr lang="en-US" altLang="ru-RU"/>
              <a:t> </a:t>
            </a:r>
            <a:r>
              <a:rPr lang="en-US" altLang="en-US"/>
              <a:t>товаров</a:t>
            </a:r>
            <a:r>
              <a:rPr lang="en-US" altLang="ru-RU"/>
              <a:t>. </a:t>
            </a:r>
            <a:r>
              <a:rPr lang="en-US" altLang="en-US"/>
              <a:t>Окно</a:t>
            </a:r>
            <a:r>
              <a:rPr lang="en-US" altLang="ru-RU"/>
              <a:t> </a:t>
            </a:r>
            <a:r>
              <a:rPr lang="en-US" altLang="en-US"/>
              <a:t>выполнено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тёмной</a:t>
            </a:r>
            <a:r>
              <a:rPr lang="en-US" altLang="ru-RU"/>
              <a:t> </a:t>
            </a:r>
            <a:r>
              <a:rPr lang="en-US" altLang="en-US"/>
              <a:t>цветовой</a:t>
            </a:r>
            <a:r>
              <a:rPr lang="en-US" altLang="ru-RU"/>
              <a:t> </a:t>
            </a:r>
            <a:r>
              <a:rPr lang="en-US" altLang="en-US"/>
              <a:t>гамме</a:t>
            </a:r>
            <a:r>
              <a:rPr lang="en-US" altLang="ru-RU"/>
              <a:t>, </a:t>
            </a:r>
            <a:r>
              <a:rPr lang="en-US" altLang="en-US"/>
              <a:t>содержит</a:t>
            </a:r>
            <a:r>
              <a:rPr lang="en-US" altLang="ru-RU"/>
              <a:t> </a:t>
            </a:r>
            <a:r>
              <a:rPr lang="en-US" altLang="en-US"/>
              <a:t>логотип</a:t>
            </a:r>
            <a:r>
              <a:rPr lang="en-US" altLang="ru-RU"/>
              <a:t> </a:t>
            </a:r>
            <a:r>
              <a:rPr lang="en-US" altLang="en-US"/>
              <a:t>компании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расположено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центру</a:t>
            </a:r>
            <a:r>
              <a:rPr lang="en-US" altLang="ru-RU"/>
              <a:t> </a:t>
            </a:r>
            <a:r>
              <a:rPr lang="en-US" altLang="en-US"/>
              <a:t>экрана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Окно Добавления пользователя</a:t>
            </a:r>
            <a:endParaRPr lang="en-US" alt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6740" y="1737360"/>
            <a:ext cx="5939155" cy="23825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10260" y="4236720"/>
            <a:ext cx="105714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Д</a:t>
            </a:r>
            <a:r>
              <a:rPr lang="en-US" altLang="en-US"/>
              <a:t>оступно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администратору</a:t>
            </a:r>
            <a:r>
              <a:rPr lang="en-US" altLang="ru-RU"/>
              <a:t>.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создать</a:t>
            </a:r>
            <a:r>
              <a:rPr lang="en-US" altLang="ru-RU"/>
              <a:t> </a:t>
            </a:r>
            <a:r>
              <a:rPr lang="en-US" altLang="en-US"/>
              <a:t>новую</a:t>
            </a:r>
            <a:r>
              <a:rPr lang="en-US" altLang="ru-RU"/>
              <a:t> </a:t>
            </a:r>
            <a:r>
              <a:rPr lang="en-US" altLang="en-US"/>
              <a:t>учётную</a:t>
            </a:r>
            <a:r>
              <a:rPr lang="en-US" altLang="ru-RU"/>
              <a:t> </a:t>
            </a:r>
            <a:r>
              <a:rPr lang="en-US" altLang="en-US"/>
              <a:t>запись</a:t>
            </a:r>
            <a:r>
              <a:rPr lang="en-US" altLang="ru-RU"/>
              <a:t>, </a:t>
            </a:r>
            <a:r>
              <a:rPr lang="en-US" altLang="en-US"/>
              <a:t>указав</a:t>
            </a:r>
            <a:r>
              <a:rPr lang="en-US" altLang="ru-RU"/>
              <a:t> </a:t>
            </a:r>
            <a:r>
              <a:rPr lang="en-US" altLang="en-US"/>
              <a:t>ФИО</a:t>
            </a:r>
            <a:r>
              <a:rPr lang="en-US" altLang="ru-RU"/>
              <a:t>, </a:t>
            </a:r>
            <a:r>
              <a:rPr lang="en-US" altLang="en-US"/>
              <a:t>логин</a:t>
            </a:r>
            <a:r>
              <a:rPr lang="en-US" altLang="ru-RU"/>
              <a:t>, </a:t>
            </a:r>
            <a:r>
              <a:rPr lang="en-US" altLang="en-US"/>
              <a:t>пароль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роль</a:t>
            </a:r>
            <a:r>
              <a:rPr lang="en-US" altLang="ru-RU"/>
              <a:t> </a:t>
            </a:r>
            <a:r>
              <a:rPr lang="en-US" altLang="en-US"/>
              <a:t>из</a:t>
            </a:r>
            <a:r>
              <a:rPr lang="en-US" altLang="ru-RU"/>
              <a:t> </a:t>
            </a:r>
            <a:r>
              <a:rPr lang="en-US" altLang="en-US"/>
              <a:t>выпадающего</a:t>
            </a:r>
            <a:r>
              <a:rPr lang="en-US" altLang="ru-RU"/>
              <a:t> </a:t>
            </a:r>
            <a:r>
              <a:rPr lang="en-US" altLang="en-US"/>
              <a:t>списка</a:t>
            </a:r>
            <a:r>
              <a:rPr lang="en-US" altLang="ru-RU"/>
              <a:t> (Admin, Manager, Cashier, Director, Storekeeper). </a:t>
            </a:r>
            <a:r>
              <a:rPr lang="en-US" altLang="en-US"/>
              <a:t>После</a:t>
            </a:r>
            <a:r>
              <a:rPr lang="en-US" altLang="ru-RU"/>
              <a:t> </a:t>
            </a:r>
            <a:r>
              <a:rPr lang="en-US" altLang="en-US"/>
              <a:t>сохранения</a:t>
            </a:r>
            <a:r>
              <a:rPr lang="en-US" altLang="ru-RU"/>
              <a:t> </a:t>
            </a:r>
            <a:r>
              <a:rPr lang="en-US" altLang="en-US"/>
              <a:t>новый</a:t>
            </a:r>
            <a:r>
              <a:rPr lang="en-US" altLang="ru-RU"/>
              <a:t> </a:t>
            </a:r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получает</a:t>
            </a:r>
            <a:r>
              <a:rPr lang="en-US" altLang="ru-RU"/>
              <a:t> </a:t>
            </a:r>
            <a:r>
              <a:rPr lang="en-US" altLang="en-US"/>
              <a:t>доступ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системе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правами</a:t>
            </a:r>
            <a:r>
              <a:rPr lang="en-US" altLang="ru-RU"/>
              <a:t>, </a:t>
            </a:r>
            <a:r>
              <a:rPr lang="en-US" altLang="en-US"/>
              <a:t>соответствующими</a:t>
            </a:r>
            <a:r>
              <a:rPr lang="en-US" altLang="ru-RU"/>
              <a:t> </a:t>
            </a:r>
            <a:r>
              <a:rPr lang="en-US" altLang="en-US"/>
              <a:t>выбранной</a:t>
            </a:r>
            <a:r>
              <a:rPr lang="en-US" altLang="ru-RU"/>
              <a:t> </a:t>
            </a:r>
            <a:r>
              <a:rPr lang="en-US" altLang="en-US"/>
              <a:t>роли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Окно Учёта улова</a:t>
            </a:r>
            <a:endParaRPr lang="en-US" alt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10260" y="4683760"/>
            <a:ext cx="105714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Окно</a:t>
            </a:r>
            <a:r>
              <a:rPr lang="en-US" altLang="ru-RU"/>
              <a:t> </a:t>
            </a:r>
            <a:r>
              <a:rPr lang="en-US" altLang="en-US"/>
              <a:t>предназначено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фиксации</a:t>
            </a:r>
            <a:r>
              <a:rPr lang="en-US" altLang="ru-RU"/>
              <a:t> </a:t>
            </a:r>
            <a:r>
              <a:rPr lang="en-US" altLang="en-US"/>
              <a:t>результатов</a:t>
            </a:r>
            <a:r>
              <a:rPr lang="en-US" altLang="ru-RU"/>
              <a:t> </a:t>
            </a:r>
            <a:r>
              <a:rPr lang="en-US" altLang="en-US"/>
              <a:t>промысла</a:t>
            </a:r>
            <a:r>
              <a:rPr lang="en-US" altLang="ru-RU"/>
              <a:t>.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каждой</a:t>
            </a:r>
            <a:r>
              <a:rPr lang="en-US" altLang="ru-RU"/>
              <a:t> </a:t>
            </a:r>
            <a:r>
              <a:rPr lang="en-US" altLang="en-US"/>
              <a:t>записи</a:t>
            </a:r>
            <a:r>
              <a:rPr lang="en-US" altLang="ru-RU"/>
              <a:t> </a:t>
            </a:r>
            <a:r>
              <a:rPr lang="en-US" altLang="en-US"/>
              <a:t>указываются</a:t>
            </a:r>
            <a:r>
              <a:rPr lang="en-US" altLang="ru-RU"/>
              <a:t> </a:t>
            </a:r>
            <a:r>
              <a:rPr lang="en-US" altLang="en-US"/>
              <a:t>выход</a:t>
            </a:r>
            <a:r>
              <a:rPr lang="en-US" altLang="ru-RU"/>
              <a:t> </a:t>
            </a:r>
            <a:r>
              <a:rPr lang="en-US" altLang="en-US"/>
              <a:t>катера</a:t>
            </a:r>
            <a:r>
              <a:rPr lang="en-US" altLang="ru-RU"/>
              <a:t>, </a:t>
            </a:r>
            <a:r>
              <a:rPr lang="en-US" altLang="en-US"/>
              <a:t>банка</a:t>
            </a:r>
            <a:r>
              <a:rPr lang="en-US" altLang="ru-RU"/>
              <a:t>, </a:t>
            </a:r>
            <a:r>
              <a:rPr lang="en-US" altLang="en-US"/>
              <a:t>сорт</a:t>
            </a:r>
            <a:r>
              <a:rPr lang="en-US" altLang="ru-RU"/>
              <a:t> </a:t>
            </a:r>
            <a:r>
              <a:rPr lang="en-US" altLang="en-US"/>
              <a:t>рыбы</a:t>
            </a:r>
            <a:r>
              <a:rPr lang="en-US" altLang="ru-RU"/>
              <a:t>, </a:t>
            </a:r>
            <a:r>
              <a:rPr lang="en-US" altLang="en-US"/>
              <a:t>вес</a:t>
            </a:r>
            <a:r>
              <a:rPr lang="en-US" altLang="ru-RU"/>
              <a:t>, </a:t>
            </a:r>
            <a:r>
              <a:rPr lang="en-US" altLang="en-US"/>
              <a:t>качество</a:t>
            </a:r>
            <a:r>
              <a:rPr lang="en-US" altLang="ru-RU"/>
              <a:t> (</a:t>
            </a:r>
            <a:r>
              <a:rPr lang="en-US" altLang="en-US"/>
              <a:t>отличное</a:t>
            </a:r>
            <a:r>
              <a:rPr lang="en-US" altLang="ru-RU"/>
              <a:t>, </a:t>
            </a:r>
            <a:r>
              <a:rPr lang="en-US" altLang="en-US"/>
              <a:t>хорошее</a:t>
            </a:r>
            <a:r>
              <a:rPr lang="en-US" altLang="ru-RU"/>
              <a:t>, </a:t>
            </a:r>
            <a:r>
              <a:rPr lang="en-US" altLang="en-US"/>
              <a:t>плохое</a:t>
            </a:r>
            <a:r>
              <a:rPr lang="en-US" altLang="ru-RU"/>
              <a:t>), </a:t>
            </a:r>
            <a:r>
              <a:rPr lang="en-US" altLang="en-US"/>
              <a:t>дата</a:t>
            </a:r>
            <a:r>
              <a:rPr lang="en-US" altLang="ru-RU"/>
              <a:t> </a:t>
            </a:r>
            <a:r>
              <a:rPr lang="en-US" altLang="en-US"/>
              <a:t>прихода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отплытия</a:t>
            </a:r>
            <a:r>
              <a:rPr lang="en-US" altLang="ru-RU"/>
              <a:t>.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выход</a:t>
            </a:r>
            <a:r>
              <a:rPr lang="en-US" altLang="ru-RU"/>
              <a:t>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включать</a:t>
            </a:r>
            <a:r>
              <a:rPr lang="en-US" altLang="ru-RU"/>
              <a:t> </a:t>
            </a:r>
            <a:r>
              <a:rPr lang="en-US" altLang="en-US"/>
              <a:t>несколько</a:t>
            </a:r>
            <a:r>
              <a:rPr lang="en-US" altLang="ru-RU"/>
              <a:t> </a:t>
            </a:r>
            <a:r>
              <a:rPr lang="en-US" altLang="en-US"/>
              <a:t>записей</a:t>
            </a:r>
            <a:r>
              <a:rPr lang="en-US" altLang="ru-RU"/>
              <a:t> –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разным</a:t>
            </a:r>
            <a:r>
              <a:rPr lang="en-US" altLang="ru-RU"/>
              <a:t> </a:t>
            </a:r>
            <a:r>
              <a:rPr lang="en-US" altLang="en-US"/>
              <a:t>банкам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сортам</a:t>
            </a:r>
            <a:r>
              <a:rPr lang="en-US" altLang="ru-RU"/>
              <a:t> </a:t>
            </a:r>
            <a:r>
              <a:rPr lang="en-US" altLang="en-US"/>
              <a:t>рыбы</a:t>
            </a:r>
            <a:r>
              <a:rPr lang="en-US" altLang="ru-RU"/>
              <a:t>. </a:t>
            </a:r>
            <a:r>
              <a:rPr lang="en-US" altLang="en-US"/>
              <a:t>Реализованы</a:t>
            </a:r>
            <a:r>
              <a:rPr lang="en-US" altLang="ru-RU"/>
              <a:t> </a:t>
            </a:r>
            <a:r>
              <a:rPr lang="en-US" altLang="en-US"/>
              <a:t>добавление</a:t>
            </a:r>
            <a:r>
              <a:rPr lang="en-US" altLang="ru-RU"/>
              <a:t>, </a:t>
            </a:r>
            <a:r>
              <a:rPr lang="en-US" altLang="en-US"/>
              <a:t>редактирование</a:t>
            </a:r>
            <a:r>
              <a:rPr lang="en-US" altLang="ru-RU"/>
              <a:t>, </a:t>
            </a:r>
            <a:r>
              <a:rPr lang="en-US" altLang="en-US"/>
              <a:t>удаление</a:t>
            </a:r>
            <a:r>
              <a:rPr lang="en-US" altLang="ru-RU"/>
              <a:t>, </a:t>
            </a:r>
            <a:r>
              <a:rPr lang="en-US" altLang="en-US"/>
              <a:t>поиск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пагинация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pPr algn="ctr"/>
            <a:endParaRPr lang="en-US" altLang="ru-RU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529330" y="1845945"/>
            <a:ext cx="5133340" cy="2766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Программные модули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080" y="2554605"/>
            <a:ext cx="5330825" cy="19888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019810" y="2064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Пример настройки видимости вкладок</a:t>
            </a:r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035" y="2554605"/>
            <a:ext cx="4525645" cy="202374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6630670" y="2064385"/>
            <a:ext cx="4525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Сохранение открытых и открытие вкладок</a:t>
            </a:r>
            <a:endParaRPr lang="ru-RU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Программные модули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019810" y="2064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Удаление банки</a:t>
            </a:r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861175" y="2064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Выручка по товарам</a:t>
            </a:r>
            <a:endParaRPr lang="ru-RU" altLang="en-US"/>
          </a:p>
        </p:txBody>
      </p:sp>
      <p:pic>
        <p:nvPicPr>
          <p:cNvPr id="11" name="Замещающее содержимое 10"/>
          <p:cNvPicPr>
            <a:picLocks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0240" y="2554605"/>
            <a:ext cx="4802505" cy="922020"/>
          </a:xfrm>
          <a:prstGeom prst="rect">
            <a:avLst/>
          </a:prstGeom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050" y="2554605"/>
            <a:ext cx="3015615" cy="2059305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905" y="4495800"/>
            <a:ext cx="3813175" cy="1157605"/>
          </a:xfrm>
          <a:prstGeom prst="rect">
            <a:avLst/>
          </a:prstGeom>
        </p:spPr>
      </p:pic>
      <p:sp>
        <p:nvSpPr>
          <p:cNvPr id="14" name="Текстовое поле 13"/>
          <p:cNvSpPr txBox="1"/>
          <p:nvPr/>
        </p:nvSpPr>
        <p:spPr>
          <a:xfrm>
            <a:off x="961390" y="4032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Видимость элементов внутри окна</a:t>
            </a:r>
            <a:endParaRPr lang="ru-RU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Дефект 1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1970" y="2918460"/>
            <a:ext cx="4437380" cy="28905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35635" y="18669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/>
              <a:t>Несмотря на то, что пользователь выбрал товары, которые входят в закупку - код говорит, что список пуст</a:t>
            </a:r>
            <a:endParaRPr lang="ru-RU" altLang="ru-RU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989955" y="1927225"/>
            <a:ext cx="52952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Исправлен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метод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LoadProducts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SelectProductsForPurchaseWindow.xaml.cs.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Добавлена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корректная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загрузка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товаров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из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базы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преобразованием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нужный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тип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присвоение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источника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DataGrid.</a:t>
            </a:r>
            <a:endParaRPr lang="en-US" altLang="ru-RU" sz="1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105" y="2918460"/>
            <a:ext cx="3910965" cy="2237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Дефект 2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0455" y="2917190"/>
            <a:ext cx="4363720" cy="281241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100455" y="1936115"/>
            <a:ext cx="4364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/>
              <a:t>Центральный объект должен был быть тёмного цвета, но к нему не применились общие стили</a:t>
            </a:r>
            <a:endParaRPr lang="ru-RU" altLang="ru-RU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475095" y="1936115"/>
            <a:ext cx="5287010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US" sz="1400"/>
              <a:t>Решение</a:t>
            </a:r>
            <a:r>
              <a:rPr lang="en-US" altLang="ru-RU" sz="1400"/>
              <a:t>: </a:t>
            </a:r>
            <a:r>
              <a:rPr lang="en-US" altLang="en-US" sz="1400"/>
              <a:t>В</a:t>
            </a:r>
            <a:r>
              <a:rPr lang="en-US" altLang="ru-RU" sz="1400"/>
              <a:t> </a:t>
            </a:r>
            <a:r>
              <a:rPr lang="en-US" altLang="en-US" sz="1400"/>
              <a:t>файл</a:t>
            </a:r>
            <a:r>
              <a:rPr lang="en-US" altLang="ru-RU" sz="1400"/>
              <a:t> </a:t>
            </a:r>
            <a:r>
              <a:rPr lang="en-US" altLang="en-US" sz="1400"/>
              <a:t>стилей</a:t>
            </a:r>
            <a:r>
              <a:rPr lang="en-US" altLang="ru-RU" sz="1400"/>
              <a:t> DarkTheme.xaml </a:t>
            </a:r>
            <a:r>
              <a:rPr lang="en-US" altLang="en-US" sz="1400"/>
              <a:t>добавлен</a:t>
            </a:r>
            <a:r>
              <a:rPr lang="en-US" altLang="ru-RU" sz="1400"/>
              <a:t> </a:t>
            </a:r>
            <a:r>
              <a:rPr lang="en-US" altLang="en-US" sz="1400"/>
              <a:t>стиль</a:t>
            </a:r>
            <a:r>
              <a:rPr lang="en-US" altLang="ru-RU" sz="1400"/>
              <a:t> </a:t>
            </a:r>
            <a:r>
              <a:rPr lang="en-US" altLang="en-US" sz="1400"/>
              <a:t>для</a:t>
            </a:r>
            <a:r>
              <a:rPr lang="en-US" altLang="ru-RU" sz="1400"/>
              <a:t> UserControl. </a:t>
            </a:r>
            <a:r>
              <a:rPr lang="en-US" altLang="en-US" sz="1400"/>
              <a:t>Во</a:t>
            </a:r>
            <a:r>
              <a:rPr lang="en-US" altLang="ru-RU" sz="1400"/>
              <a:t> </a:t>
            </a:r>
            <a:r>
              <a:rPr lang="en-US" altLang="en-US" sz="1400"/>
              <a:t>все</a:t>
            </a:r>
            <a:r>
              <a:rPr lang="en-US" altLang="ru-RU" sz="1400"/>
              <a:t> </a:t>
            </a:r>
            <a:r>
              <a:rPr lang="en-US" altLang="en-US" sz="1400"/>
              <a:t>проблемные</a:t>
            </a:r>
            <a:r>
              <a:rPr lang="en-US" altLang="ru-RU" sz="1400"/>
              <a:t> </a:t>
            </a:r>
            <a:r>
              <a:rPr lang="en-US" altLang="en-US" sz="1400"/>
              <a:t>окна</a:t>
            </a:r>
            <a:r>
              <a:rPr lang="en-US" altLang="ru-RU" sz="1400"/>
              <a:t> </a:t>
            </a:r>
            <a:r>
              <a:rPr lang="en-US" altLang="en-US" sz="1400"/>
              <a:t>добавлены</a:t>
            </a:r>
            <a:r>
              <a:rPr lang="en-US" altLang="ru-RU" sz="1400"/>
              <a:t> </a:t>
            </a:r>
            <a:r>
              <a:rPr lang="en-US" altLang="en-US" sz="1400"/>
              <a:t>атрибуты</a:t>
            </a:r>
            <a:r>
              <a:rPr lang="en-US" altLang="ru-RU" sz="1400"/>
              <a:t> Background="{DynamicResource MainBackground}"</a:t>
            </a:r>
            <a:r>
              <a:rPr lang="ru-RU" altLang="ru-RU" sz="1400"/>
              <a:t>, также добавлены стили под прочие элементы</a:t>
            </a:r>
            <a:r>
              <a:rPr lang="en-US" altLang="ru-RU" sz="1400"/>
              <a:t>. </a:t>
            </a:r>
            <a:r>
              <a:rPr lang="en-US" altLang="en-US" sz="1400"/>
              <a:t>Теперь</a:t>
            </a:r>
            <a:r>
              <a:rPr lang="en-US" altLang="ru-RU" sz="1400"/>
              <a:t> </a:t>
            </a:r>
            <a:r>
              <a:rPr lang="en-US" altLang="en-US" sz="1400"/>
              <a:t>тёмная</a:t>
            </a:r>
            <a:r>
              <a:rPr lang="en-US" altLang="ru-RU" sz="1400"/>
              <a:t> </a:t>
            </a:r>
            <a:r>
              <a:rPr lang="en-US" altLang="en-US" sz="1400"/>
              <a:t>тема</a:t>
            </a:r>
            <a:r>
              <a:rPr lang="en-US" altLang="ru-RU" sz="1400"/>
              <a:t> </a:t>
            </a:r>
            <a:r>
              <a:rPr lang="en-US" altLang="en-US" sz="1400"/>
              <a:t>применяется</a:t>
            </a:r>
            <a:r>
              <a:rPr lang="en-US" altLang="ru-RU" sz="1400"/>
              <a:t> </a:t>
            </a:r>
            <a:r>
              <a:rPr lang="en-US" altLang="en-US" sz="1400"/>
              <a:t>ко</a:t>
            </a:r>
            <a:r>
              <a:rPr lang="en-US" altLang="ru-RU" sz="1400"/>
              <a:t> </a:t>
            </a:r>
            <a:r>
              <a:rPr lang="en-US" altLang="en-US" sz="1400"/>
              <a:t>всем</a:t>
            </a:r>
            <a:r>
              <a:rPr lang="en-US" altLang="ru-RU" sz="1400"/>
              <a:t> </a:t>
            </a:r>
            <a:r>
              <a:rPr lang="en-US" altLang="en-US" sz="1400"/>
              <a:t>элементам</a:t>
            </a:r>
            <a:r>
              <a:rPr lang="en-US" altLang="ru-RU" sz="1400"/>
              <a:t> </a:t>
            </a:r>
            <a:r>
              <a:rPr lang="en-US" altLang="en-US" sz="1400"/>
              <a:t>приложения</a:t>
            </a:r>
            <a:r>
              <a:rPr lang="en-US" altLang="ru-RU" sz="1400"/>
              <a:t>.</a:t>
            </a:r>
            <a:endParaRPr lang="en-US" altLang="ru-RU" sz="1400"/>
          </a:p>
          <a:p>
            <a:endParaRPr lang="en-US" altLang="ru-RU" sz="1400"/>
          </a:p>
          <a:p>
            <a:endParaRPr lang="en-US" altLang="ru-RU" sz="140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730" y="3169920"/>
            <a:ext cx="412432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Дефект 3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4400" y="3024505"/>
            <a:ext cx="5181600" cy="12287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914400" y="2309495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Код не видит созданные «окна», в следствие чего код даже не компилируется</a:t>
            </a:r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962775" y="2032635"/>
            <a:ext cx="48056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Решение</a:t>
            </a:r>
            <a:r>
              <a:rPr lang="en-US" altLang="en-US" sz="1400"/>
              <a:t>: </a:t>
            </a:r>
            <a:r>
              <a:rPr lang="ru-RU" altLang="en-US" sz="1400"/>
              <a:t>д</a:t>
            </a:r>
            <a:r>
              <a:rPr lang="en-US" altLang="en-US" sz="1400"/>
              <a:t>обавлены</a:t>
            </a:r>
            <a:r>
              <a:rPr lang="en-US" altLang="ru-RU" sz="1400"/>
              <a:t> </a:t>
            </a:r>
            <a:r>
              <a:rPr lang="en-US" altLang="en-US" sz="1400"/>
              <a:t>пустые</a:t>
            </a:r>
            <a:r>
              <a:rPr lang="en-US" altLang="ru-RU" sz="1400"/>
              <a:t> </a:t>
            </a:r>
            <a:r>
              <a:rPr lang="en-US" altLang="en-US" sz="1400"/>
              <a:t>конструкторы</a:t>
            </a:r>
            <a:r>
              <a:rPr lang="en-US" altLang="ru-RU" sz="1400"/>
              <a:t> </a:t>
            </a:r>
            <a:r>
              <a:rPr lang="en-US" altLang="en-US" sz="1400"/>
              <a:t>для</a:t>
            </a:r>
            <a:r>
              <a:rPr lang="en-US" altLang="ru-RU" sz="1400"/>
              <a:t> </a:t>
            </a:r>
            <a:r>
              <a:rPr lang="en-US" altLang="en-US" sz="1400"/>
              <a:t>корректной</a:t>
            </a:r>
            <a:r>
              <a:rPr lang="en-US" altLang="ru-RU" sz="1400"/>
              <a:t> </a:t>
            </a:r>
            <a:r>
              <a:rPr lang="en-US" altLang="en-US" sz="1400"/>
              <a:t>работы</a:t>
            </a:r>
            <a:r>
              <a:rPr lang="en-US" altLang="ru-RU" sz="1400"/>
              <a:t> </a:t>
            </a:r>
            <a:r>
              <a:rPr lang="en-US" altLang="en-US" sz="1400"/>
              <a:t>дизайнера</a:t>
            </a:r>
            <a:r>
              <a:rPr lang="en-US" altLang="ru-RU" sz="1400"/>
              <a:t> XAML. </a:t>
            </a:r>
            <a:r>
              <a:rPr lang="en-US" altLang="en-US" sz="1400"/>
              <a:t>Вместо</a:t>
            </a:r>
            <a:r>
              <a:rPr lang="en-US" altLang="ru-RU" sz="1400"/>
              <a:t> </a:t>
            </a:r>
            <a:r>
              <a:rPr lang="en-US" altLang="en-US" sz="1400"/>
              <a:t>прямых</a:t>
            </a:r>
            <a:r>
              <a:rPr lang="en-US" altLang="ru-RU" sz="1400"/>
              <a:t> </a:t>
            </a:r>
            <a:r>
              <a:rPr lang="en-US" altLang="en-US" sz="1400"/>
              <a:t>ссылок</a:t>
            </a:r>
            <a:r>
              <a:rPr lang="en-US" altLang="ru-RU" sz="1400"/>
              <a:t> </a:t>
            </a:r>
            <a:r>
              <a:rPr lang="en-US" altLang="en-US" sz="1400"/>
              <a:t>в</a:t>
            </a:r>
            <a:r>
              <a:rPr lang="en-US" altLang="ru-RU" sz="1400"/>
              <a:t> XAML </a:t>
            </a:r>
            <a:r>
              <a:rPr lang="en-US" altLang="en-US" sz="1400"/>
              <a:t>контролы</a:t>
            </a:r>
            <a:r>
              <a:rPr lang="en-US" altLang="ru-RU" sz="1400"/>
              <a:t> </a:t>
            </a:r>
            <a:r>
              <a:rPr lang="en-US" altLang="en-US" sz="1400"/>
              <a:t>создаются</a:t>
            </a:r>
            <a:r>
              <a:rPr lang="en-US" altLang="ru-RU" sz="1400"/>
              <a:t> </a:t>
            </a:r>
            <a:r>
              <a:rPr lang="en-US" altLang="en-US" sz="1400"/>
              <a:t>динамически</a:t>
            </a:r>
            <a:r>
              <a:rPr lang="en-US" altLang="ru-RU" sz="1400"/>
              <a:t> </a:t>
            </a:r>
            <a:r>
              <a:rPr lang="en-US" altLang="en-US" sz="1400"/>
              <a:t>в</a:t>
            </a:r>
            <a:r>
              <a:rPr lang="en-US" altLang="ru-RU" sz="1400"/>
              <a:t> </a:t>
            </a:r>
            <a:r>
              <a:rPr lang="en-US" altLang="en-US" sz="1400"/>
              <a:t>коде</a:t>
            </a:r>
            <a:r>
              <a:rPr lang="en-US" altLang="ru-RU" sz="1400"/>
              <a:t> </a:t>
            </a:r>
            <a:r>
              <a:rPr lang="en-US" altLang="en-US" sz="1400"/>
              <a:t>через</a:t>
            </a:r>
            <a:r>
              <a:rPr lang="en-US" altLang="ru-RU" sz="1400"/>
              <a:t> FleetControl.</a:t>
            </a:r>
            <a:endParaRPr lang="en-US" altLang="ru-RU" sz="140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480" y="2954655"/>
            <a:ext cx="3505200" cy="895350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615" y="4034790"/>
            <a:ext cx="4139565" cy="7442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работы были сформулированы и решены следующие проблемы:</a:t>
            </a:r>
            <a:endParaRPr lang="ru-RU" dirty="0"/>
          </a:p>
          <a:p>
            <a:r>
              <a:rPr lang="ru-RU" dirty="0"/>
              <a:t>- Обосновать разработку автоматизированной системы для рыболовной фирмы;</a:t>
            </a:r>
            <a:endParaRPr lang="ru-RU" dirty="0"/>
          </a:p>
          <a:p>
            <a:r>
              <a:rPr lang="ru-RU" dirty="0"/>
              <a:t>- Разработать автоматизированную систему для </a:t>
            </a:r>
            <a:r>
              <a:rPr lang="ru-RU" dirty="0">
                <a:sym typeface="+mn-ea"/>
              </a:rPr>
              <a:t>рыболовной фирмы</a:t>
            </a:r>
            <a:r>
              <a:rPr lang="ru-RU" dirty="0"/>
              <a:t>;</a:t>
            </a:r>
            <a:endParaRPr lang="ru-RU" dirty="0"/>
          </a:p>
          <a:p>
            <a:r>
              <a:rPr lang="ru-RU" dirty="0"/>
              <a:t>- Определить технологию настройки, установки и сопровождения системы для рыболовной фирмы.</a:t>
            </a:r>
            <a:endParaRPr lang="ru-RU" dirty="0"/>
          </a:p>
          <a:p>
            <a:endParaRPr lang="ru-RU" dirty="0"/>
          </a:p>
          <a:p>
            <a:r>
              <a:rPr lang="ru-RU" dirty="0"/>
              <a:t>Курсовая работа выполнена в соответствии с методическими рекомендациями. Цель курсовой работы достигнута.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СПАСИБО ЗА ВНИМАНИЕ</a:t>
            </a:r>
            <a:endParaRPr lang="ru-RU" sz="7200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6661</Words>
  <Application>WPS Presentation</Application>
  <PresentationFormat>Широкоэкранный</PresentationFormat>
  <Paragraphs>157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Times New Roman</vt:lpstr>
      <vt:lpstr>Wingdings</vt:lpstr>
      <vt:lpstr>Ретро</vt:lpstr>
      <vt:lpstr>Разработка информационной системы для рыболовной фирмы</vt:lpstr>
      <vt:lpstr>Обоснование разработки</vt:lpstr>
      <vt:lpstr>Предметная область</vt:lpstr>
      <vt:lpstr>ER-диаграмма</vt:lpstr>
      <vt:lpstr>Создание БД</vt:lpstr>
      <vt:lpstr>Импорт данных в БД</vt:lpstr>
      <vt:lpstr>Главное окно системы</vt:lpstr>
      <vt:lpstr>Окно Авторизации</vt:lpstr>
      <vt:lpstr>Окно Добавления пользователя</vt:lpstr>
      <vt:lpstr>Окно Добавления пользователя</vt:lpstr>
      <vt:lpstr>Программные модули</vt:lpstr>
      <vt:lpstr>Программные модули</vt:lpstr>
      <vt:lpstr>Дефект 1</vt:lpstr>
      <vt:lpstr>Дефект 2</vt:lpstr>
      <vt:lpstr>Дефект 3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оптовой базы при помощи 1С:Предприятие 8</dc:title>
  <dc:creator>user</dc:creator>
  <cp:lastModifiedBy>Маклецов Никита</cp:lastModifiedBy>
  <cp:revision>13</cp:revision>
  <dcterms:created xsi:type="dcterms:W3CDTF">2022-10-19T09:39:00Z</dcterms:created>
  <dcterms:modified xsi:type="dcterms:W3CDTF">2026-04-16T05:08:13Z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4FCE44EE73084B64A24604D399809A62_12</vt:lpwstr>
  </property>
  <property fmtid="{D5CDD505-2E9C-101B-9397-08002B2CF9AE}" pid="3" name="KSOProductBuildVer">
    <vt:lpwstr>1049-12.2.0.23202</vt:lpwstr>
  </property>
</Properties>
</file>